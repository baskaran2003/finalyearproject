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5" r:id="rId15"/>
    <p:sldId id="276" r:id="rId16"/>
    <p:sldId id="270" r:id="rId17"/>
    <p:sldId id="277" r:id="rId18"/>
    <p:sldId id="278" r:id="rId19"/>
    <p:sldId id="279" r:id="rId20"/>
    <p:sldId id="280" r:id="rId21"/>
    <p:sldId id="271" r:id="rId22"/>
    <p:sldId id="272" r:id="rId23"/>
    <p:sldId id="273"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C1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94660"/>
  </p:normalViewPr>
  <p:slideViewPr>
    <p:cSldViewPr snapToGrid="0">
      <p:cViewPr varScale="1">
        <p:scale>
          <a:sx n="82" d="100"/>
          <a:sy n="82" d="100"/>
        </p:scale>
        <p:origin x="94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CS3811-PROJECT WORK</a:t>
            </a:r>
          </a:p>
        </p:txBody>
      </p:sp>
      <p:sp>
        <p:nvSpPr>
          <p:cNvPr id="1048785"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E8FD5-1529-4BA0-8D16-8A8D7E6F421F}" type="datetime1">
              <a:rPr lang="en-US" smtClean="0"/>
              <a:t>5/13/2025</a:t>
            </a:fld>
            <a:endParaRPr lang="en-US"/>
          </a:p>
        </p:txBody>
      </p:sp>
      <p:sp>
        <p:nvSpPr>
          <p:cNvPr id="1048786"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DEPARTMENT OF CSE  </a:t>
            </a:r>
          </a:p>
        </p:txBody>
      </p:sp>
      <p:sp>
        <p:nvSpPr>
          <p:cNvPr id="1048787"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54C75B-D0DC-47C2-BF63-8942347312A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7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CS3811-PROJECT WORK</a:t>
            </a:r>
          </a:p>
        </p:txBody>
      </p:sp>
      <p:sp>
        <p:nvSpPr>
          <p:cNvPr id="1048779"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CC2F8-1DBA-49E2-AAA9-A8B1CEC12D4A}" type="datetime1">
              <a:rPr lang="en-US" smtClean="0"/>
              <a:t>5/13/2025</a:t>
            </a:fld>
            <a:endParaRPr lang="en-US"/>
          </a:p>
        </p:txBody>
      </p:sp>
      <p:sp>
        <p:nvSpPr>
          <p:cNvPr id="1048780"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8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DEPARTMENT OF CSE  </a:t>
            </a:r>
          </a:p>
        </p:txBody>
      </p:sp>
      <p:sp>
        <p:nvSpPr>
          <p:cNvPr id="1048783"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7E70B0-B29E-4879-B623-6E258A0EE00E}" type="slidenum">
              <a:rPr lang="en-US" smtClean="0"/>
              <a:t>‹#›</a:t>
            </a:fld>
            <a:endParaRPr lang="en-US"/>
          </a:p>
        </p:txBody>
      </p:sp>
    </p:spTree>
  </p:cSld>
  <p:clrMap bg1="lt1" tx1="dk1" bg2="lt2" tx2="dk2" accent1="accent1" accent2="accent2" accent3="accent3" accent4="accent4" accent5="accent5" accent6="accent6" hlink="hlink" folHlink="folHlink"/>
  <p:hf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83" name="Date Placeholder 3"/>
          <p:cNvSpPr>
            <a:spLocks noGrp="1"/>
          </p:cNvSpPr>
          <p:nvPr>
            <p:ph type="dt" sz="half" idx="10"/>
          </p:nvPr>
        </p:nvSpPr>
        <p:spPr/>
        <p:txBody>
          <a:bodyPr/>
          <a:lstStyle/>
          <a:p>
            <a:endParaRPr lang="en-US"/>
          </a:p>
        </p:txBody>
      </p:sp>
      <p:sp>
        <p:nvSpPr>
          <p:cNvPr id="1048584" name="Footer Placeholder 4"/>
          <p:cNvSpPr>
            <a:spLocks noGrp="1"/>
          </p:cNvSpPr>
          <p:nvPr>
            <p:ph type="ftr" sz="quarter" idx="11"/>
          </p:nvPr>
        </p:nvSpPr>
        <p:spPr/>
        <p:txBody>
          <a:bodyPr/>
          <a:lstStyle/>
          <a:p>
            <a:r>
              <a:rPr lang="en-US"/>
              <a:t>DEPARTMENT OF CSE                                                         DATE:</a:t>
            </a:r>
          </a:p>
        </p:txBody>
      </p:sp>
      <p:sp>
        <p:nvSpPr>
          <p:cNvPr id="1048585"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34" name="Title 1"/>
          <p:cNvSpPr>
            <a:spLocks noGrp="1"/>
          </p:cNvSpPr>
          <p:nvPr>
            <p:ph type="title"/>
          </p:nvPr>
        </p:nvSpPr>
        <p:spPr/>
        <p:txBody>
          <a:bodyPr/>
          <a:lstStyle/>
          <a:p>
            <a:r>
              <a:rPr lang="en-US"/>
              <a:t>Click to edit Master title style</a:t>
            </a:r>
            <a:endParaRPr lang="en-IN"/>
          </a:p>
        </p:txBody>
      </p:sp>
      <p:sp>
        <p:nvSpPr>
          <p:cNvPr id="104873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36" name="Date Placeholder 3"/>
          <p:cNvSpPr>
            <a:spLocks noGrp="1"/>
          </p:cNvSpPr>
          <p:nvPr>
            <p:ph type="dt" sz="half" idx="10"/>
          </p:nvPr>
        </p:nvSpPr>
        <p:spPr/>
        <p:txBody>
          <a:bodyPr/>
          <a:lstStyle/>
          <a:p>
            <a:fld id="{B61BEF0D-F0BB-DE4B-95CE-6DB70DBA9567}" type="datetimeFigureOut">
              <a:rPr lang="en-US" smtClean="0"/>
              <a:t>5/13/2025</a:t>
            </a:fld>
            <a:endParaRPr lang="en-US" dirty="0"/>
          </a:p>
        </p:txBody>
      </p:sp>
      <p:sp>
        <p:nvSpPr>
          <p:cNvPr id="1048737" name="Footer Placeholder 4"/>
          <p:cNvSpPr>
            <a:spLocks noGrp="1"/>
          </p:cNvSpPr>
          <p:nvPr>
            <p:ph type="ftr" sz="quarter" idx="11"/>
          </p:nvPr>
        </p:nvSpPr>
        <p:spPr/>
        <p:txBody>
          <a:bodyPr/>
          <a:lstStyle/>
          <a:p>
            <a:r>
              <a:rPr lang="en-US"/>
              <a:t>DEPARTMENT OF CSE                                                         DATE:</a:t>
            </a:r>
          </a:p>
        </p:txBody>
      </p:sp>
      <p:sp>
        <p:nvSpPr>
          <p:cNvPr id="1048738"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50"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751"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752" name="Date Placeholder 3"/>
          <p:cNvSpPr>
            <a:spLocks noGrp="1"/>
          </p:cNvSpPr>
          <p:nvPr>
            <p:ph type="dt" sz="half" idx="10"/>
          </p:nvPr>
        </p:nvSpPr>
        <p:spPr/>
        <p:txBody>
          <a:bodyPr/>
          <a:lstStyle/>
          <a:p>
            <a:endParaRPr lang="en-US"/>
          </a:p>
        </p:txBody>
      </p:sp>
      <p:sp>
        <p:nvSpPr>
          <p:cNvPr id="1048753" name="Footer Placeholder 4"/>
          <p:cNvSpPr>
            <a:spLocks noGrp="1"/>
          </p:cNvSpPr>
          <p:nvPr>
            <p:ph type="ftr" sz="quarter" idx="11"/>
          </p:nvPr>
        </p:nvSpPr>
        <p:spPr/>
        <p:txBody>
          <a:bodyPr/>
          <a:lstStyle/>
          <a:p>
            <a:r>
              <a:rPr lang="en-US"/>
              <a:t>DEPARTMENT OF CSE                                                         DATE:</a:t>
            </a:r>
          </a:p>
        </p:txBody>
      </p:sp>
      <p:sp>
        <p:nvSpPr>
          <p:cNvPr id="1048754"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55" name="Title 1"/>
          <p:cNvSpPr>
            <a:spLocks noGrp="1"/>
          </p:cNvSpPr>
          <p:nvPr>
            <p:ph type="title"/>
          </p:nvPr>
        </p:nvSpPr>
        <p:spPr/>
        <p:txBody>
          <a:bodyPr/>
          <a:lstStyle/>
          <a:p>
            <a:r>
              <a:rPr lang="en-US"/>
              <a:t>Click to edit Master title style</a:t>
            </a:r>
            <a:endParaRPr lang="en-IN"/>
          </a:p>
        </p:txBody>
      </p:sp>
      <p:sp>
        <p:nvSpPr>
          <p:cNvPr id="1048756"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57"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58" name="Date Placeholder 4"/>
          <p:cNvSpPr>
            <a:spLocks noGrp="1"/>
          </p:cNvSpPr>
          <p:nvPr>
            <p:ph type="dt" sz="half" idx="10"/>
          </p:nvPr>
        </p:nvSpPr>
        <p:spPr/>
        <p:txBody>
          <a:bodyPr/>
          <a:lstStyle/>
          <a:p>
            <a:endParaRPr lang="en-US"/>
          </a:p>
        </p:txBody>
      </p:sp>
      <p:sp>
        <p:nvSpPr>
          <p:cNvPr id="1048759" name="Footer Placeholder 5"/>
          <p:cNvSpPr>
            <a:spLocks noGrp="1"/>
          </p:cNvSpPr>
          <p:nvPr>
            <p:ph type="ftr" sz="quarter" idx="11"/>
          </p:nvPr>
        </p:nvSpPr>
        <p:spPr/>
        <p:txBody>
          <a:bodyPr/>
          <a:lstStyle/>
          <a:p>
            <a:r>
              <a:rPr lang="en-US"/>
              <a:t>DEPARTMENT OF CSE                                                         DATE:</a:t>
            </a:r>
          </a:p>
        </p:txBody>
      </p:sp>
      <p:sp>
        <p:nvSpPr>
          <p:cNvPr id="1048760" name="Slide Number Placeholder 6"/>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61"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762"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63"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64"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65"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66" name="Date Placeholder 6"/>
          <p:cNvSpPr>
            <a:spLocks noGrp="1"/>
          </p:cNvSpPr>
          <p:nvPr>
            <p:ph type="dt" sz="half" idx="10"/>
          </p:nvPr>
        </p:nvSpPr>
        <p:spPr/>
        <p:txBody>
          <a:bodyPr/>
          <a:lstStyle/>
          <a:p>
            <a:endParaRPr lang="en-US"/>
          </a:p>
        </p:txBody>
      </p:sp>
      <p:sp>
        <p:nvSpPr>
          <p:cNvPr id="1048767" name="Footer Placeholder 7"/>
          <p:cNvSpPr>
            <a:spLocks noGrp="1"/>
          </p:cNvSpPr>
          <p:nvPr>
            <p:ph type="ftr" sz="quarter" idx="11"/>
          </p:nvPr>
        </p:nvSpPr>
        <p:spPr/>
        <p:txBody>
          <a:bodyPr/>
          <a:lstStyle/>
          <a:p>
            <a:r>
              <a:rPr lang="en-US"/>
              <a:t>DEPARTMENT OF CSE                                                         DATE:</a:t>
            </a:r>
          </a:p>
        </p:txBody>
      </p:sp>
      <p:sp>
        <p:nvSpPr>
          <p:cNvPr id="1048768" name="Slide Number Placeholder 8"/>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endParaRPr lang="en-IN"/>
          </a:p>
        </p:txBody>
      </p:sp>
      <p:sp>
        <p:nvSpPr>
          <p:cNvPr id="1048726" name="Date Placeholder 2"/>
          <p:cNvSpPr>
            <a:spLocks noGrp="1"/>
          </p:cNvSpPr>
          <p:nvPr>
            <p:ph type="dt" sz="half" idx="10"/>
          </p:nvPr>
        </p:nvSpPr>
        <p:spPr/>
        <p:txBody>
          <a:bodyPr/>
          <a:lstStyle/>
          <a:p>
            <a:fld id="{B61BEF0D-F0BB-DE4B-95CE-6DB70DBA9567}" type="datetimeFigureOut">
              <a:rPr lang="en-US" smtClean="0"/>
              <a:t>5/13/2025</a:t>
            </a:fld>
            <a:endParaRPr lang="en-US" dirty="0"/>
          </a:p>
        </p:txBody>
      </p:sp>
      <p:sp>
        <p:nvSpPr>
          <p:cNvPr id="1048727" name="Footer Placeholder 3"/>
          <p:cNvSpPr>
            <a:spLocks noGrp="1"/>
          </p:cNvSpPr>
          <p:nvPr>
            <p:ph type="ftr" sz="quarter" idx="11"/>
          </p:nvPr>
        </p:nvSpPr>
        <p:spPr/>
        <p:txBody>
          <a:bodyPr/>
          <a:lstStyle/>
          <a:p>
            <a:r>
              <a:rPr lang="en-US"/>
              <a:t>DEPARTMENT OF CSE                                                         DATE:</a:t>
            </a:r>
          </a:p>
        </p:txBody>
      </p:sp>
      <p:sp>
        <p:nvSpPr>
          <p:cNvPr id="1048728" name="Slide Number Placeholder 4"/>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69" name="Date Placeholder 1"/>
          <p:cNvSpPr>
            <a:spLocks noGrp="1"/>
          </p:cNvSpPr>
          <p:nvPr>
            <p:ph type="dt" sz="half" idx="10"/>
          </p:nvPr>
        </p:nvSpPr>
        <p:spPr/>
        <p:txBody>
          <a:bodyPr/>
          <a:lstStyle/>
          <a:p>
            <a:fld id="{B61BEF0D-F0BB-DE4B-95CE-6DB70DBA9567}" type="datetimeFigureOut">
              <a:rPr lang="en-US" smtClean="0"/>
              <a:t>5/13/2025</a:t>
            </a:fld>
            <a:endParaRPr lang="en-US" dirty="0"/>
          </a:p>
        </p:txBody>
      </p:sp>
      <p:sp>
        <p:nvSpPr>
          <p:cNvPr id="1048770" name="Footer Placeholder 2"/>
          <p:cNvSpPr>
            <a:spLocks noGrp="1"/>
          </p:cNvSpPr>
          <p:nvPr>
            <p:ph type="ftr" sz="quarter" idx="11"/>
          </p:nvPr>
        </p:nvSpPr>
        <p:spPr/>
        <p:txBody>
          <a:bodyPr/>
          <a:lstStyle/>
          <a:p>
            <a:r>
              <a:rPr lang="en-US"/>
              <a:t>DEPARTMENT OF CSE                                                         DATE:</a:t>
            </a:r>
          </a:p>
        </p:txBody>
      </p:sp>
      <p:sp>
        <p:nvSpPr>
          <p:cNvPr id="1048771" name="Slide Number Placeholder 3"/>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7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7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7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75" name="Date Placeholder 4"/>
          <p:cNvSpPr>
            <a:spLocks noGrp="1"/>
          </p:cNvSpPr>
          <p:nvPr>
            <p:ph type="dt" sz="half" idx="10"/>
          </p:nvPr>
        </p:nvSpPr>
        <p:spPr/>
        <p:txBody>
          <a:bodyPr/>
          <a:lstStyle/>
          <a:p>
            <a:endParaRPr lang="en-US"/>
          </a:p>
        </p:txBody>
      </p:sp>
      <p:sp>
        <p:nvSpPr>
          <p:cNvPr id="1048776" name="Footer Placeholder 5"/>
          <p:cNvSpPr>
            <a:spLocks noGrp="1"/>
          </p:cNvSpPr>
          <p:nvPr>
            <p:ph type="ftr" sz="quarter" idx="11"/>
          </p:nvPr>
        </p:nvSpPr>
        <p:spPr/>
        <p:txBody>
          <a:bodyPr/>
          <a:lstStyle/>
          <a:p>
            <a:r>
              <a:rPr lang="en-US"/>
              <a:t>DEPARTMENT OF CSE                                                         DATE:</a:t>
            </a:r>
          </a:p>
        </p:txBody>
      </p:sp>
      <p:sp>
        <p:nvSpPr>
          <p:cNvPr id="1048777" name="Slide Number Placeholder 6"/>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39"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40"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74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42" name="Date Placeholder 4"/>
          <p:cNvSpPr>
            <a:spLocks noGrp="1"/>
          </p:cNvSpPr>
          <p:nvPr>
            <p:ph type="dt" sz="half" idx="10"/>
          </p:nvPr>
        </p:nvSpPr>
        <p:spPr/>
        <p:txBody>
          <a:bodyPr/>
          <a:lstStyle/>
          <a:p>
            <a:endParaRPr lang="en-US"/>
          </a:p>
        </p:txBody>
      </p:sp>
      <p:sp>
        <p:nvSpPr>
          <p:cNvPr id="1048743" name="Footer Placeholder 5"/>
          <p:cNvSpPr>
            <a:spLocks noGrp="1"/>
          </p:cNvSpPr>
          <p:nvPr>
            <p:ph type="ftr" sz="quarter" idx="11"/>
          </p:nvPr>
        </p:nvSpPr>
        <p:spPr/>
        <p:txBody>
          <a:bodyPr/>
          <a:lstStyle/>
          <a:p>
            <a:r>
              <a:rPr lang="en-US"/>
              <a:t>DEPARTMENT OF CSE                                                         DATE:</a:t>
            </a:r>
          </a:p>
        </p:txBody>
      </p:sp>
      <p:sp>
        <p:nvSpPr>
          <p:cNvPr id="1048744" name="Slide Number Placeholder 6"/>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45" name="Title 1"/>
          <p:cNvSpPr>
            <a:spLocks noGrp="1"/>
          </p:cNvSpPr>
          <p:nvPr>
            <p:ph type="title"/>
          </p:nvPr>
        </p:nvSpPr>
        <p:spPr/>
        <p:txBody>
          <a:bodyPr/>
          <a:lstStyle/>
          <a:p>
            <a:r>
              <a:rPr lang="en-US"/>
              <a:t>Click to edit Master title style</a:t>
            </a:r>
            <a:endParaRPr lang="en-IN"/>
          </a:p>
        </p:txBody>
      </p:sp>
      <p:sp>
        <p:nvSpPr>
          <p:cNvPr id="1048746"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47" name="Date Placeholder 3"/>
          <p:cNvSpPr>
            <a:spLocks noGrp="1"/>
          </p:cNvSpPr>
          <p:nvPr>
            <p:ph type="dt" sz="half" idx="10"/>
          </p:nvPr>
        </p:nvSpPr>
        <p:spPr/>
        <p:txBody>
          <a:bodyPr/>
          <a:lstStyle/>
          <a:p>
            <a:endParaRPr lang="en-US"/>
          </a:p>
        </p:txBody>
      </p:sp>
      <p:sp>
        <p:nvSpPr>
          <p:cNvPr id="1048748" name="Footer Placeholder 4"/>
          <p:cNvSpPr>
            <a:spLocks noGrp="1"/>
          </p:cNvSpPr>
          <p:nvPr>
            <p:ph type="ftr" sz="quarter" idx="11"/>
          </p:nvPr>
        </p:nvSpPr>
        <p:spPr/>
        <p:txBody>
          <a:bodyPr/>
          <a:lstStyle/>
          <a:p>
            <a:r>
              <a:rPr lang="en-US"/>
              <a:t>DEPARTMENT OF CSE                                                         DATE:</a:t>
            </a:r>
          </a:p>
        </p:txBody>
      </p:sp>
      <p:sp>
        <p:nvSpPr>
          <p:cNvPr id="1048749"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29"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730"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31" name="Date Placeholder 3"/>
          <p:cNvSpPr>
            <a:spLocks noGrp="1"/>
          </p:cNvSpPr>
          <p:nvPr>
            <p:ph type="dt" sz="half" idx="10"/>
          </p:nvPr>
        </p:nvSpPr>
        <p:spPr/>
        <p:txBody>
          <a:bodyPr/>
          <a:lstStyle/>
          <a:p>
            <a:endParaRPr lang="en-US"/>
          </a:p>
        </p:txBody>
      </p:sp>
      <p:sp>
        <p:nvSpPr>
          <p:cNvPr id="1048732" name="Footer Placeholder 4"/>
          <p:cNvSpPr>
            <a:spLocks noGrp="1"/>
          </p:cNvSpPr>
          <p:nvPr>
            <p:ph type="ftr" sz="quarter" idx="11"/>
          </p:nvPr>
        </p:nvSpPr>
        <p:spPr/>
        <p:txBody>
          <a:bodyPr/>
          <a:lstStyle/>
          <a:p>
            <a:r>
              <a:rPr lang="en-US"/>
              <a:t>DEPARTMENT OF CSE                                                         DATE:</a:t>
            </a:r>
          </a:p>
        </p:txBody>
      </p:sp>
      <p:sp>
        <p:nvSpPr>
          <p:cNvPr id="1048733" name="Slide Number Placeholder 5"/>
          <p:cNvSpPr>
            <a:spLocks noGrp="1"/>
          </p:cNvSpPr>
          <p:nvPr>
            <p:ph type="sldNum" sz="quarter" idx="12"/>
          </p:nvPr>
        </p:nvSpPr>
        <p:spPr/>
        <p:txBody>
          <a:bodyPr/>
          <a:lstStyle/>
          <a:p>
            <a:fld id="{1AEA7669-B146-406D-95A0-838D355BB787}" type="slidenum">
              <a:rPr lang="en-US" smtClean="0"/>
              <a:t>‹#›</a:t>
            </a:fld>
            <a:endParaRPr lang="en-US"/>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1048622" name="Title 1"/>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048623" name="Slide Number Placeholder 14"/>
          <p:cNvSpPr>
            <a:spLocks noGrp="1"/>
          </p:cNvSpPr>
          <p:nvPr>
            <p:ph type="sldNum" sz="quarter" idx="12"/>
          </p:nvPr>
        </p:nvSpPr>
        <p:spPr/>
        <p:txBody>
          <a:bodyPr/>
          <a:lstStyle/>
          <a:p>
            <a:fld id="{1AEA7669-B146-406D-95A0-838D355BB787}" type="slidenum">
              <a:rPr lang="en-US" smtClean="0"/>
              <a:t>‹#›</a:t>
            </a:fld>
            <a:endParaRPr lang="en-US"/>
          </a:p>
        </p:txBody>
      </p:sp>
      <p:sp>
        <p:nvSpPr>
          <p:cNvPr id="1048624" name="Content Placeholder 3"/>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625" name="Content Placeholder 5"/>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626" name="Footer Placeholder 12"/>
          <p:cNvSpPr>
            <a:spLocks noGrp="1"/>
          </p:cNvSpPr>
          <p:nvPr>
            <p:ph type="ftr" sz="quarter" idx="11"/>
          </p:nvPr>
        </p:nvSpPr>
        <p:spPr>
          <a:xfrm>
            <a:off x="1280160" y="6356350"/>
            <a:ext cx="4114800" cy="365125"/>
          </a:xfrm>
        </p:spPr>
        <p:txBody>
          <a:bodyPr/>
          <a:lstStyle>
            <a:lvl1pPr algn="l"/>
          </a:lstStyle>
          <a:p>
            <a:r>
              <a:rPr lang="en-US"/>
              <a:t>DEPARTMENT OF CSE                                                         DATE: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CSE                                                         DATE:</a:t>
            </a:r>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EA7669-B146-406D-95A0-838D355BB78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ight Triangle 5"/>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587" name="Freeform: Shape 14"/>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588" name="Subtitle 2"/>
          <p:cNvSpPr>
            <a:spLocks noGrp="1"/>
          </p:cNvSpPr>
          <p:nvPr>
            <p:ph type="subTitle" idx="1"/>
          </p:nvPr>
        </p:nvSpPr>
        <p:spPr>
          <a:xfrm>
            <a:off x="6455337" y="4035133"/>
            <a:ext cx="4358843" cy="751472"/>
          </a:xfrm>
        </p:spPr>
        <p:txBody>
          <a:bodyPr>
            <a:noAutofit/>
          </a:bodyPr>
          <a:lstStyle/>
          <a:p>
            <a:r>
              <a:rPr lang="en-US" sz="1800" b="1" dirty="0">
                <a:solidFill>
                  <a:schemeClr val="tx1"/>
                </a:solidFill>
                <a:latin typeface="Times New Roman" panose="02020603050405020304" pitchFamily="18" charset="0"/>
                <a:cs typeface="Times New Roman" panose="02020603050405020304" pitchFamily="18" charset="0"/>
              </a:rPr>
              <a:t>GUIDED BY : Mrs. S. LALITHA, 		</a:t>
            </a:r>
            <a:r>
              <a:rPr lang="en-US" sz="1800" b="1" dirty="0" err="1">
                <a:solidFill>
                  <a:schemeClr val="tx1"/>
                </a:solidFill>
                <a:latin typeface="Times New Roman" panose="02020603050405020304" pitchFamily="18" charset="0"/>
                <a:cs typeface="Times New Roman" panose="02020603050405020304" pitchFamily="18" charset="0"/>
              </a:rPr>
              <a:t>M.Tech</a:t>
            </a:r>
            <a:r>
              <a:rPr lang="en-US" sz="1800" b="1" dirty="0">
                <a:latin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cs typeface="Times New Roman" panose="02020603050405020304" pitchFamily="18" charset="0"/>
              </a:rPr>
              <a:t>AP,CSE</a:t>
            </a:r>
          </a:p>
        </p:txBody>
      </p:sp>
      <p:pic>
        <p:nvPicPr>
          <p:cNvPr id="2097152" name="Picture 6"/>
          <p:cNvPicPr>
            <a:picLocks noChangeAspect="1"/>
          </p:cNvPicPr>
          <p:nvPr/>
        </p:nvPicPr>
        <p:blipFill>
          <a:blip r:embed="rId2"/>
          <a:srcRect r="53684"/>
          <a:stretch>
            <a:fillRect/>
          </a:stretch>
        </p:blipFill>
        <p:spPr>
          <a:xfrm>
            <a:off x="674488" y="-258038"/>
            <a:ext cx="1728000" cy="2214879"/>
          </a:xfrm>
          <a:prstGeom prst="rect">
            <a:avLst/>
          </a:prstGeom>
          <a:noFill/>
          <a:effectLst>
            <a:softEdge rad="0"/>
          </a:effectLst>
        </p:spPr>
      </p:pic>
      <p:sp>
        <p:nvSpPr>
          <p:cNvPr id="1048589" name="Rectangle 24"/>
          <p:cNvSpPr/>
          <p:nvPr/>
        </p:nvSpPr>
        <p:spPr>
          <a:xfrm>
            <a:off x="-71360" y="6534834"/>
            <a:ext cx="12486968"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DEPARTMENT OF CSE                                                                                                                              </a:t>
            </a:r>
            <a:r>
              <a:rPr lang="en-US" b="1" dirty="0">
                <a:latin typeface="Times New Roman" panose="02020603050405020304" pitchFamily="18" charset="0"/>
                <a:ea typeface="Tahoma" panose="020B0604030504040204" pitchFamily="34" charset="0"/>
                <a:cs typeface="Times New Roman" panose="02020603050405020304" pitchFamily="18" charset="0"/>
              </a:rPr>
              <a:t>14/05/2025</a:t>
            </a:r>
          </a:p>
          <a:p>
            <a:endParaRPr lang="en-US" dirty="0"/>
          </a:p>
        </p:txBody>
      </p:sp>
      <p:sp>
        <p:nvSpPr>
          <p:cNvPr id="1048590" name="Rectangle 4"/>
          <p:cNvSpPr/>
          <p:nvPr/>
        </p:nvSpPr>
        <p:spPr>
          <a:xfrm>
            <a:off x="1610448" y="2211245"/>
            <a:ext cx="9123352" cy="121775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latin typeface="Times New Roman" panose="02020603050405020304" pitchFamily="18" charset="0"/>
                <a:cs typeface="Times New Roman" panose="02020603050405020304" pitchFamily="18" charset="0"/>
              </a:rPr>
              <a:t>PREDCTING CUSTOMER SATISFACTION USING MLOPS</a:t>
            </a:r>
          </a:p>
        </p:txBody>
      </p:sp>
      <p:pic>
        <p:nvPicPr>
          <p:cNvPr id="2097153" name="Picture 11"/>
          <p:cNvPicPr>
            <a:picLocks noChangeArrowheads="1"/>
          </p:cNvPicPr>
          <p:nvPr/>
        </p:nvPicPr>
        <p:blipFill>
          <a:blip r:embed="rId3" cstate="print"/>
          <a:srcRect/>
          <a:stretch>
            <a:fillRect/>
          </a:stretch>
        </p:blipFill>
        <p:spPr bwMode="auto">
          <a:xfrm>
            <a:off x="9431884" y="101623"/>
            <a:ext cx="1562100" cy="1449255"/>
          </a:xfrm>
          <a:prstGeom prst="rect">
            <a:avLst/>
          </a:prstGeom>
          <a:noFill/>
          <a:ln>
            <a:noFill/>
          </a:ln>
        </p:spPr>
      </p:pic>
      <p:sp>
        <p:nvSpPr>
          <p:cNvPr id="1048591" name="TextBox 1"/>
          <p:cNvSpPr txBox="1"/>
          <p:nvPr/>
        </p:nvSpPr>
        <p:spPr>
          <a:xfrm>
            <a:off x="562708" y="3795763"/>
            <a:ext cx="5772778" cy="203132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BATCH NO: 9</a:t>
            </a:r>
          </a:p>
          <a:p>
            <a:r>
              <a:rPr lang="en-US" altLang="en-GB"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NAME: ANBUCHELVAN R REG NO: 510421104007</a:t>
            </a:r>
          </a:p>
          <a:p>
            <a:r>
              <a:rPr lang="en-IN" dirty="0">
                <a:latin typeface="Times New Roman" panose="02020603050405020304" pitchFamily="18" charset="0"/>
                <a:cs typeface="Times New Roman" panose="02020603050405020304" pitchFamily="18" charset="0"/>
              </a:rPr>
              <a:t>NAME: ARUN KUMAR R	REG NO: 510421104010</a:t>
            </a:r>
            <a:endParaRPr lang="zh-CN" altLang="en-US" dirty="0"/>
          </a:p>
          <a:p>
            <a:r>
              <a:rPr lang="en-US" dirty="0">
                <a:latin typeface="Times New Roman" panose="02020603050405020304" pitchFamily="18" charset="0"/>
                <a:cs typeface="Times New Roman" panose="02020603050405020304" pitchFamily="18" charset="0"/>
              </a:rPr>
              <a:t>NAME:</a:t>
            </a:r>
            <a:r>
              <a:rPr lang="en-IN" dirty="0">
                <a:latin typeface="Times New Roman" panose="02020603050405020304" pitchFamily="18" charset="0"/>
                <a:cs typeface="Times New Roman" panose="02020603050405020304" pitchFamily="18" charset="0"/>
              </a:rPr>
              <a:t> BASKARAN C	REG NO: 510421104015  </a:t>
            </a:r>
          </a:p>
          <a:p>
            <a:r>
              <a:rPr lang="en-IN" dirty="0">
                <a:latin typeface="Times New Roman" panose="02020603050405020304" pitchFamily="18" charset="0"/>
                <a:cs typeface="Times New Roman" panose="02020603050405020304" pitchFamily="18" charset="0"/>
              </a:rPr>
              <a:t>NAME: DHANUSH A	REG NO: 510421104023</a:t>
            </a: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2097154" name="Picture 2"/>
          <p:cNvPicPr>
            <a:picLocks noChangeAspect="1"/>
          </p:cNvPicPr>
          <p:nvPr/>
        </p:nvPicPr>
        <p:blipFill>
          <a:blip r:embed="rId4"/>
          <a:srcRect/>
          <a:stretch>
            <a:fillRect/>
          </a:stretch>
        </p:blipFill>
        <p:spPr bwMode="auto">
          <a:xfrm>
            <a:off x="2280212" y="-12929"/>
            <a:ext cx="6840638" cy="18574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Right Triangle 4"/>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93" name="Freeform: Shape 5"/>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594" name="Title 1"/>
          <p:cNvSpPr>
            <a:spLocks noGrp="1"/>
          </p:cNvSpPr>
          <p:nvPr>
            <p:ph type="ctrTitle"/>
          </p:nvPr>
        </p:nvSpPr>
        <p:spPr>
          <a:xfrm>
            <a:off x="0" y="0"/>
            <a:ext cx="12192000" cy="1061884"/>
          </a:xfrm>
          <a:noFill/>
        </p:spPr>
        <p:txBody>
          <a:bodyPr/>
          <a:lstStyle/>
          <a:p>
            <a:pPr algn="ctr"/>
            <a:r>
              <a:rPr lang="en-US" sz="4000" dirty="0">
                <a:solidFill>
                  <a:schemeClr val="tx1"/>
                </a:solidFill>
                <a:latin typeface="Times New Roman" panose="02020603050405020304" pitchFamily="18" charset="0"/>
                <a:cs typeface="Times New Roman" panose="02020603050405020304" pitchFamily="18" charset="0"/>
              </a:rPr>
              <a:t>AGENDA </a:t>
            </a:r>
          </a:p>
        </p:txBody>
      </p:sp>
      <p:sp>
        <p:nvSpPr>
          <p:cNvPr id="1048595" name="Subtitle 2"/>
          <p:cNvSpPr>
            <a:spLocks noGrp="1"/>
          </p:cNvSpPr>
          <p:nvPr>
            <p:ph type="subTitle" idx="1"/>
          </p:nvPr>
        </p:nvSpPr>
        <p:spPr>
          <a:xfrm>
            <a:off x="716472" y="1061884"/>
            <a:ext cx="10302237" cy="397191"/>
          </a:xfrm>
        </p:spPr>
        <p:txBody>
          <a:bodyPr>
            <a:noAutofit/>
          </a:bodyPr>
          <a:lstStyle/>
          <a:p>
            <a:pPr marL="342900" indent="-342900" algn="just">
              <a:lnSpc>
                <a:spcPct val="50000"/>
              </a:lnSpc>
              <a:buFont typeface="Wingdings" panose="05000000000000000000" pitchFamily="2" charset="2"/>
              <a:buChar char="Ø"/>
            </a:pPr>
            <a:endParaRPr lang="en-US"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Abstract</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Introduction</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Problem Statement</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Literature Survey</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Extract of Literature Survey</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Existing System </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Proposed System</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Methodology</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Tools and Technologies</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System Architecture</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Module Description</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Implementation</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Challenges and Limitations</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Future scope</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References</a:t>
            </a:r>
          </a:p>
          <a:p>
            <a:pPr marL="342900" indent="-342900" algn="just">
              <a:lnSpc>
                <a:spcPct val="50000"/>
              </a:lnSpc>
              <a:buFont typeface="Wingdings" panose="05000000000000000000" pitchFamily="2" charset="2"/>
              <a:buChar char="Ø"/>
            </a:pPr>
            <a:r>
              <a:rPr lang="en-US" sz="20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Conclusion</a:t>
            </a:r>
          </a:p>
        </p:txBody>
      </p:sp>
      <p:cxnSp>
        <p:nvCxnSpPr>
          <p:cNvPr id="3145728" name="Straight Connector 4"/>
          <p:cNvCxnSpPr>
            <a:cxnSpLocks/>
          </p:cNvCxnSpPr>
          <p:nvPr/>
        </p:nvCxnSpPr>
        <p:spPr>
          <a:xfrm>
            <a:off x="176981" y="963561"/>
            <a:ext cx="11857703" cy="983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48596" name="TextBox 11"/>
          <p:cNvSpPr txBox="1"/>
          <p:nvPr/>
        </p:nvSpPr>
        <p:spPr>
          <a:xfrm>
            <a:off x="585996" y="259518"/>
            <a:ext cx="2834640" cy="615553"/>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CS3811-PROJECT WORK</a:t>
            </a:r>
          </a:p>
          <a:p>
            <a:endParaRPr lang="en-US" dirty="0">
              <a:latin typeface="Times New Roman" panose="02020603050405020304" pitchFamily="18" charset="0"/>
              <a:cs typeface="Times New Roman" panose="02020603050405020304" pitchFamily="18" charset="0"/>
            </a:endParaRPr>
          </a:p>
        </p:txBody>
      </p:sp>
      <p:sp>
        <p:nvSpPr>
          <p:cNvPr id="1048597" name="TextBox 13"/>
          <p:cNvSpPr txBox="1"/>
          <p:nvPr/>
        </p:nvSpPr>
        <p:spPr>
          <a:xfrm>
            <a:off x="-1" y="6410960"/>
            <a:ext cx="12595123" cy="89154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DEPARTMENT OF CSE                                                                                                                             </a:t>
            </a:r>
            <a:r>
              <a:rPr lang="en-US" b="1" dirty="0"/>
              <a:t>14/05/2025</a:t>
            </a:r>
          </a:p>
          <a:p>
            <a:endParaRPr lang="en-US" b="1"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99"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00" name="Rectangle 5"/>
          <p:cNvSpPr/>
          <p:nvPr/>
        </p:nvSpPr>
        <p:spPr>
          <a:xfrm>
            <a:off x="585996" y="451429"/>
            <a:ext cx="2414379" cy="3344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02" name="Subtitle 2"/>
          <p:cNvSpPr>
            <a:spLocks noGrp="1"/>
          </p:cNvSpPr>
          <p:nvPr>
            <p:ph type="subTitle" idx="1"/>
          </p:nvPr>
        </p:nvSpPr>
        <p:spPr>
          <a:xfrm>
            <a:off x="613818" y="1356248"/>
            <a:ext cx="10302237" cy="4674790"/>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	Customer satisfaction plays a crucial role in the success of any business, especially in e-commerce. Traditional methods like surveys and manual feedback analysis are slow and often inaccurate, making it difficult to understand customer feelings in real-time. This project aims to predict how satisfied a customer will be with their next purchase using Machine Learning (ML) and </a:t>
            </a:r>
            <a:r>
              <a:rPr lang="en-US" sz="2000" dirty="0" err="1">
                <a:latin typeface="Times New Roman" panose="02020603050405020304" pitchFamily="18" charset="0"/>
                <a:cs typeface="Times New Roman" panose="02020603050405020304" pitchFamily="18" charset="0"/>
              </a:rPr>
              <a:t>MLOps</a:t>
            </a:r>
            <a:r>
              <a:rPr lang="en-US" sz="2000" dirty="0">
                <a:latin typeface="Times New Roman" panose="02020603050405020304" pitchFamily="18" charset="0"/>
                <a:cs typeface="Times New Roman" panose="02020603050405020304" pitchFamily="18" charset="0"/>
              </a:rPr>
              <a:t>. Using the E-Commerce Public Dataset, which includes details about orders, payments, deliveries, and customer reviews, we build a model to estimate customer satisfaction scores. By using </a:t>
            </a:r>
            <a:r>
              <a:rPr lang="en-US" sz="2000" dirty="0" err="1">
                <a:latin typeface="Times New Roman" panose="02020603050405020304" pitchFamily="18" charset="0"/>
                <a:cs typeface="Times New Roman" panose="02020603050405020304" pitchFamily="18" charset="0"/>
              </a:rPr>
              <a:t>MLOps</a:t>
            </a:r>
            <a:r>
              <a:rPr lang="en-US" sz="2000" dirty="0">
                <a:latin typeface="Times New Roman" panose="02020603050405020304" pitchFamily="18" charset="0"/>
                <a:cs typeface="Times New Roman" panose="02020603050405020304" pitchFamily="18" charset="0"/>
              </a:rPr>
              <a:t>, we automate the process of training, deploying, and monitoring the model, ensuring it stays accurate over time. This approach provides real-time insights, helping businesses respond to customer needs quickly and effectively. It also supports better decision-making, reduces customer churn, and improves overall customer experience.</a:t>
            </a:r>
          </a:p>
          <a:p>
            <a:pPr algn="just">
              <a:lnSpc>
                <a:spcPct val="150000"/>
              </a:lnSpc>
            </a:pPr>
            <a:endParaRPr lang="en-US" sz="2000" dirty="0">
              <a:solidFill>
                <a:schemeClr val="tx2"/>
              </a:solidFill>
              <a:latin typeface="Times New Roman" panose="02020603050405020304" pitchFamily="18" charset="0"/>
              <a:cs typeface="Times New Roman" panose="02020603050405020304" pitchFamily="18" charset="0"/>
            </a:endParaRPr>
          </a:p>
        </p:txBody>
      </p:sp>
      <p:sp>
        <p:nvSpPr>
          <p:cNvPr id="1048603" name="TextBox 3"/>
          <p:cNvSpPr txBox="1"/>
          <p:nvPr/>
        </p:nvSpPr>
        <p:spPr>
          <a:xfrm>
            <a:off x="729028" y="369332"/>
            <a:ext cx="227134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ABSTRACT</a:t>
            </a:r>
          </a:p>
        </p:txBody>
      </p:sp>
      <p:sp>
        <p:nvSpPr>
          <p:cNvPr id="1048604" name="Rectangle 4"/>
          <p:cNvSpPr/>
          <p:nvPr/>
        </p:nvSpPr>
        <p:spPr>
          <a:xfrm>
            <a:off x="-1" y="6511208"/>
            <a:ext cx="14148619" cy="89154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DEPARTMENT OF CSE                                                                                                                             </a:t>
            </a:r>
            <a:r>
              <a:rPr lang="en-US" b="1" dirty="0"/>
              <a:t>14/05/2025</a:t>
            </a:r>
          </a:p>
          <a:p>
            <a:endParaRPr lang="en-US" b="1" dirty="0"/>
          </a:p>
          <a:p>
            <a:endParaRPr lang="en-US" dirty="0"/>
          </a:p>
        </p:txBody>
      </p:sp>
      <p:sp>
        <p:nvSpPr>
          <p:cNvPr id="1048605" name="TextBox 6"/>
          <p:cNvSpPr txBox="1"/>
          <p:nvPr/>
        </p:nvSpPr>
        <p:spPr>
          <a:xfrm>
            <a:off x="585996" y="82097"/>
            <a:ext cx="343145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CS3811-PROJECT 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07"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08" name="Rectangle 5"/>
          <p:cNvSpPr/>
          <p:nvPr/>
        </p:nvSpPr>
        <p:spPr>
          <a:xfrm>
            <a:off x="729028" y="451429"/>
            <a:ext cx="2747598" cy="3765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0" name="Subtitle 2"/>
          <p:cNvSpPr>
            <a:spLocks noGrp="1"/>
          </p:cNvSpPr>
          <p:nvPr>
            <p:ph type="subTitle" idx="1"/>
          </p:nvPr>
        </p:nvSpPr>
        <p:spPr>
          <a:xfrm>
            <a:off x="729028" y="1496778"/>
            <a:ext cx="10302237" cy="4631867"/>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	In today’s fast-evolving digital commerce landscape, customer reviews play a pivotal role in shaping purchasing decisions and brand perception. With the increasing volume of online feedback, manual analysis has become impractical and inefficient. This project proposes an automated sentiment analysis system designed to classify customer reviews into positive, neutral, or negative categories using Natural Language Processing and Machine Learning techniques. The system not only stores each review along with its sentiment label and confidence score in a MongoDB database but also triggers a personalized email response when a negative sentiment is detected. By combining intelligent classification with automated engagement, the solution ensures that customer grievances are promptly addressed, thereby fostering trust, improving satisfaction, and streamlining business communication workflows.</a:t>
            </a:r>
            <a:endParaRPr lang="en-US" sz="2800" dirty="0">
              <a:solidFill>
                <a:schemeClr val="tx2"/>
              </a:solidFill>
              <a:latin typeface="Times New Roman" panose="02020603050405020304" pitchFamily="18" charset="0"/>
              <a:cs typeface="Times New Roman" panose="02020603050405020304" pitchFamily="18" charset="0"/>
            </a:endParaRPr>
          </a:p>
        </p:txBody>
      </p:sp>
      <p:sp>
        <p:nvSpPr>
          <p:cNvPr id="1048611" name="TextBox 3"/>
          <p:cNvSpPr txBox="1"/>
          <p:nvPr/>
        </p:nvSpPr>
        <p:spPr>
          <a:xfrm>
            <a:off x="729028" y="369332"/>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INTRODUCTION</a:t>
            </a:r>
          </a:p>
        </p:txBody>
      </p:sp>
      <p:sp>
        <p:nvSpPr>
          <p:cNvPr id="1048612" name="Rectangle 4"/>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1048613" name="TextBox 6"/>
          <p:cNvSpPr txBox="1"/>
          <p:nvPr/>
        </p:nvSpPr>
        <p:spPr>
          <a:xfrm>
            <a:off x="617748" y="79103"/>
            <a:ext cx="3431459" cy="369332"/>
          </a:xfrm>
          <a:prstGeom prst="rect">
            <a:avLst/>
          </a:prstGeom>
          <a:noFill/>
        </p:spPr>
        <p:txBody>
          <a:bodyPr wrap="square" rtlCol="0">
            <a:spAutoFit/>
          </a:bodyPr>
          <a:lstStyle/>
          <a:p>
            <a:r>
              <a:rPr lang="en-US" b="1" dirty="0"/>
              <a:t>CS3811-PROJECT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15"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16" name="Rectangle 7"/>
          <p:cNvSpPr/>
          <p:nvPr/>
        </p:nvSpPr>
        <p:spPr>
          <a:xfrm>
            <a:off x="661235" y="699490"/>
            <a:ext cx="3605966" cy="39719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17" name="Title 1"/>
          <p:cNvSpPr>
            <a:spLocks noGrp="1"/>
          </p:cNvSpPr>
          <p:nvPr>
            <p:ph type="ctrTitle"/>
          </p:nvPr>
        </p:nvSpPr>
        <p:spPr>
          <a:xfrm>
            <a:off x="1280159" y="3487029"/>
            <a:ext cx="10302240" cy="1852046"/>
          </a:xfrm>
        </p:spPr>
        <p:txBody>
          <a:bodyPr/>
          <a:lstStyle/>
          <a:p>
            <a:r>
              <a:rPr lang="en-US" dirty="0"/>
              <a:t> </a:t>
            </a:r>
          </a:p>
        </p:txBody>
      </p:sp>
      <p:sp>
        <p:nvSpPr>
          <p:cNvPr id="1048619" name="TextBox 12"/>
          <p:cNvSpPr txBox="1"/>
          <p:nvPr/>
        </p:nvSpPr>
        <p:spPr>
          <a:xfrm>
            <a:off x="585995" y="616359"/>
            <a:ext cx="6128839"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 STATEMENT</a:t>
            </a:r>
          </a:p>
        </p:txBody>
      </p:sp>
      <p:sp>
        <p:nvSpPr>
          <p:cNvPr id="1048620" name="TextBox 6"/>
          <p:cNvSpPr txBox="1"/>
          <p:nvPr/>
        </p:nvSpPr>
        <p:spPr>
          <a:xfrm>
            <a:off x="585996" y="247027"/>
            <a:ext cx="3431459" cy="369332"/>
          </a:xfrm>
          <a:prstGeom prst="rect">
            <a:avLst/>
          </a:prstGeom>
          <a:noFill/>
        </p:spPr>
        <p:txBody>
          <a:bodyPr wrap="square" rtlCol="0">
            <a:spAutoFit/>
          </a:bodyPr>
          <a:lstStyle/>
          <a:p>
            <a:r>
              <a:rPr lang="en-US" b="1" dirty="0"/>
              <a:t>CS3811-PROJECT WORK</a:t>
            </a:r>
          </a:p>
        </p:txBody>
      </p:sp>
      <p:sp>
        <p:nvSpPr>
          <p:cNvPr id="1048621" name="Rectangle 9"/>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Subtitle 1">
            <a:extLst>
              <a:ext uri="{FF2B5EF4-FFF2-40B4-BE49-F238E27FC236}">
                <a16:creationId xmlns:a16="http://schemas.microsoft.com/office/drawing/2014/main" id="{BB34B62A-E430-FA29-B140-30BD389C587D}"/>
              </a:ext>
            </a:extLst>
          </p:cNvPr>
          <p:cNvSpPr>
            <a:spLocks noGrp="1" noChangeArrowheads="1"/>
          </p:cNvSpPr>
          <p:nvPr>
            <p:ph type="subTitle" idx="1"/>
          </p:nvPr>
        </p:nvSpPr>
        <p:spPr bwMode="auto">
          <a:xfrm>
            <a:off x="661236" y="1447356"/>
            <a:ext cx="11151320" cy="4160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Businesses receive large volumes of unstructured customer feedback through reviews, emails, and social media platforms.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analysis of this data is time-consuming, error-prone, and lacks consistency in sentiment interpretation.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survey-based satisfaction methods fail to capture spontaneous or real-time customer sentiments.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sentiment analysis systems often lack automation, real-time processing, and integration with operational workflows.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 scalable, intelligent solution that can: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Accurately classify customer sentiments (positive, neutral, negative),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Trigger timely actions based on feedback,</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support continuous improvement through automated monitoring and retraining.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28"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29" name="Rectangle 8"/>
          <p:cNvSpPr/>
          <p:nvPr/>
        </p:nvSpPr>
        <p:spPr>
          <a:xfrm>
            <a:off x="585996" y="741645"/>
            <a:ext cx="3909804"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30" name="Slide Number Placeholder 6"/>
          <p:cNvSpPr>
            <a:spLocks noGrp="1"/>
          </p:cNvSpPr>
          <p:nvPr>
            <p:ph type="sldNum" sz="quarter" idx="12"/>
          </p:nvPr>
        </p:nvSpPr>
        <p:spPr>
          <a:xfrm>
            <a:off x="-1061564" y="346197"/>
            <a:ext cx="4052155" cy="264198"/>
          </a:xfrm>
        </p:spPr>
        <p:txBody>
          <a:bodyPr/>
          <a:lstStyle/>
          <a:p>
            <a:r>
              <a:rPr lang="en-US" sz="1800" b="1" dirty="0">
                <a:solidFill>
                  <a:schemeClr val="tx1"/>
                </a:solidFill>
              </a:rPr>
              <a:t>CS3811-PROJECT WORK</a:t>
            </a:r>
          </a:p>
        </p:txBody>
      </p:sp>
      <p:sp>
        <p:nvSpPr>
          <p:cNvPr id="1048631" name="Subtitle 2"/>
          <p:cNvSpPr>
            <a:spLocks noGrp="1"/>
          </p:cNvSpPr>
          <p:nvPr>
            <p:ph sz="half" idx="2"/>
          </p:nvPr>
        </p:nvSpPr>
        <p:spPr>
          <a:xfrm>
            <a:off x="608654" y="1513925"/>
            <a:ext cx="10974692" cy="4745616"/>
          </a:xfrm>
        </p:spPr>
        <p:txBody>
          <a:bodyPr>
            <a:no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2012</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 Analysis and Opinion Mining</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Bing Liu</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foundational paper discussing various supervised learning methods for sentiment extraction from textual data.</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2016</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Survey on Sentiment Analysis and Opinion Mining</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S. Poria et al.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an overview of sentiment analysis methods and their significance in business and customer feedback applications.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 Analysis Using Deep Learning: A Survey</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Y. Zhang et al.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Highlights the application of deep learning techniques, especially CNNs and LSTMs, in managing large-scale sentiment data.</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2020</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1"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MLOps</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Machine Learning Operations</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G. V. Smith et al.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Discusses 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MLOps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framework for automating deployment, monitoring, and management of ML models in production.</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2021</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Sentiment Analysis of Social Media Posts Using Machine Learning</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A. Gupta et al.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Focuses on tools and frameworks for real-time sentiment monitoring to assess customer satisfaction in social media.</a:t>
            </a:r>
          </a:p>
          <a:p>
            <a:endParaRPr lang="en-US" dirty="0"/>
          </a:p>
        </p:txBody>
      </p:sp>
      <p:sp>
        <p:nvSpPr>
          <p:cNvPr id="1048632" name="TextBox 3"/>
          <p:cNvSpPr txBox="1"/>
          <p:nvPr/>
        </p:nvSpPr>
        <p:spPr>
          <a:xfrm>
            <a:off x="623259" y="546001"/>
            <a:ext cx="5497497" cy="70788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LITERATURE</a:t>
            </a:r>
            <a:r>
              <a:rPr lang="en-US" sz="40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SURVEY</a:t>
            </a:r>
          </a:p>
        </p:txBody>
      </p:sp>
      <p:sp>
        <p:nvSpPr>
          <p:cNvPr id="1048633" name="Rectangle 10"/>
          <p:cNvSpPr/>
          <p:nvPr/>
        </p:nvSpPr>
        <p:spPr>
          <a:xfrm>
            <a:off x="-1" y="6502064"/>
            <a:ext cx="14148619" cy="891540"/>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35"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36" name="Rectangle 8"/>
          <p:cNvSpPr/>
          <p:nvPr/>
        </p:nvSpPr>
        <p:spPr>
          <a:xfrm>
            <a:off x="585996" y="741645"/>
            <a:ext cx="5595729"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37" name="Title 1"/>
          <p:cNvSpPr>
            <a:spLocks noGrp="1"/>
          </p:cNvSpPr>
          <p:nvPr>
            <p:ph type="title"/>
          </p:nvPr>
        </p:nvSpPr>
        <p:spPr/>
        <p:txBody>
          <a:bodyPr/>
          <a:lstStyle/>
          <a:p>
            <a:r>
              <a:rPr lang="en-US" dirty="0"/>
              <a:t> </a:t>
            </a:r>
          </a:p>
        </p:txBody>
      </p:sp>
      <p:sp>
        <p:nvSpPr>
          <p:cNvPr id="1048638" name="Slide Number Placeholder 6"/>
          <p:cNvSpPr>
            <a:spLocks noGrp="1"/>
          </p:cNvSpPr>
          <p:nvPr>
            <p:ph type="sldNum" sz="quarter" idx="12"/>
          </p:nvPr>
        </p:nvSpPr>
        <p:spPr>
          <a:xfrm>
            <a:off x="-1109189" y="329435"/>
            <a:ext cx="4052155" cy="240180"/>
          </a:xfrm>
        </p:spPr>
        <p:txBody>
          <a:bodyPr/>
          <a:lstStyle/>
          <a:p>
            <a:r>
              <a:rPr lang="en-US" sz="1800" b="1" dirty="0">
                <a:solidFill>
                  <a:schemeClr val="tx1"/>
                </a:solidFill>
              </a:rPr>
              <a:t>CS3811-PROJECT WORK</a:t>
            </a:r>
          </a:p>
        </p:txBody>
      </p:sp>
      <p:sp>
        <p:nvSpPr>
          <p:cNvPr id="1048639" name="Subtitle 2"/>
          <p:cNvSpPr>
            <a:spLocks noGrp="1"/>
          </p:cNvSpPr>
          <p:nvPr>
            <p:ph sz="half" idx="2"/>
          </p:nvPr>
        </p:nvSpPr>
        <p:spPr>
          <a:xfrm>
            <a:off x="598503" y="1500060"/>
            <a:ext cx="10747521" cy="4992100"/>
          </a:xfrm>
        </p:spPr>
        <p:txBody>
          <a:bodyPr>
            <a:noAutofit/>
          </a:bodyPr>
          <a:lstStyle/>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foundational work by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Bing Liu (2012)</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introduced core methodologies for sentiment classification, which inspired 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of supervised learning models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our system to categorize customer reviews into positive, neutral, or negative sentiments.</a:t>
            </a: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2016 survey by S. Poria et al.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emphasized real-world applications of sentiment analysis, guiding our focus on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business-driven sentiment detection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for actionable insights in customer feedback.</a:t>
            </a: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Drawing from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 Zhang et al. (2018)</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 incorporated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techniques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particularly CNNs and LSTMs, as a basis for enhancing model accuracy and effectively handling large volumes of unstructured review data.</a:t>
            </a: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Inspired by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 V. Smith et al. (2020)</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our architecture integrates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MLOps</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principles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enable automated deployment and management of our sentiment analysis model, ensuring scalability and continuous improvement in a production setting.</a:t>
            </a: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study by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Gupta et al. (2021)</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influenced our decision to integrate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sentiment tracking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 for live storage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enabling the system to log sentiment data with confidence scores and trigger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email alerts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negative sentiments.</a:t>
            </a:r>
          </a:p>
          <a:p>
            <a:pPr algn="just"/>
            <a:endParaRPr lang="en-US" sz="1600" dirty="0"/>
          </a:p>
        </p:txBody>
      </p:sp>
      <p:sp>
        <p:nvSpPr>
          <p:cNvPr id="1048640" name="TextBox 3"/>
          <p:cNvSpPr txBox="1"/>
          <p:nvPr/>
        </p:nvSpPr>
        <p:spPr>
          <a:xfrm>
            <a:off x="598503" y="685800"/>
            <a:ext cx="584039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EXTRACT OF LITERATURE SURVEY</a:t>
            </a:r>
          </a:p>
        </p:txBody>
      </p:sp>
      <p:sp>
        <p:nvSpPr>
          <p:cNvPr id="1048641" name="Rectangle 10"/>
          <p:cNvSpPr/>
          <p:nvPr/>
        </p:nvSpPr>
        <p:spPr>
          <a:xfrm>
            <a:off x="-1" y="6502064"/>
            <a:ext cx="14148619" cy="891540"/>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Right Triangle 1"/>
          <p:cNvSpPr/>
          <p:nvPr/>
        </p:nvSpPr>
        <p:spPr>
          <a:xfrm rot="11211921">
            <a:off x="-376745" y="-94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43"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44" name="Rectangle 7"/>
          <p:cNvSpPr/>
          <p:nvPr/>
        </p:nvSpPr>
        <p:spPr>
          <a:xfrm>
            <a:off x="962775" y="517805"/>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45" name="Title 1"/>
          <p:cNvSpPr>
            <a:spLocks noGrp="1"/>
          </p:cNvSpPr>
          <p:nvPr>
            <p:ph type="ctrTitle"/>
          </p:nvPr>
        </p:nvSpPr>
        <p:spPr/>
        <p:txBody>
          <a:bodyPr/>
          <a:lstStyle/>
          <a:p>
            <a:r>
              <a:rPr lang="en-US" dirty="0"/>
              <a:t> </a:t>
            </a:r>
          </a:p>
        </p:txBody>
      </p:sp>
      <p:sp>
        <p:nvSpPr>
          <p:cNvPr id="1048646" name="Subtitle 2"/>
          <p:cNvSpPr>
            <a:spLocks noGrp="1"/>
          </p:cNvSpPr>
          <p:nvPr>
            <p:ph type="subTitle" idx="1"/>
          </p:nvPr>
        </p:nvSpPr>
        <p:spPr>
          <a:xfrm>
            <a:off x="381849" y="1421213"/>
            <a:ext cx="10792759" cy="4870387"/>
          </a:xfrm>
        </p:spPr>
        <p:txBody>
          <a:bodyPr>
            <a:noAutofit/>
          </a:bodyPr>
          <a:lstStyle/>
          <a:p>
            <a:pPr algn="just">
              <a:lnSpc>
                <a:spcPct val="150000"/>
              </a:lnSpc>
              <a:spcAft>
                <a:spcPts val="800"/>
              </a:spcAft>
              <a:buNone/>
            </a:pPr>
            <a:r>
              <a:rPr lang="en-IN" sz="2000" dirty="0">
                <a:latin typeface="Times New Roman"/>
                <a:cs typeface="Times New Roman"/>
              </a:rPr>
              <a:t>Traditional systems rely heavily on survey-based metrics like Net Promoter Score (NPS) or periodic feedback, which are limited in real-time applicability. Many sentiment analysis tools operate in batch mode with minimal integration into business operations. Current drawbacks include:</a:t>
            </a:r>
          </a:p>
          <a:p>
            <a:pPr marL="342900" lvl="0" indent="-342900" algn="just">
              <a:lnSpc>
                <a:spcPct val="150000"/>
              </a:lnSpc>
              <a:spcAft>
                <a:spcPts val="800"/>
              </a:spcAft>
              <a:buSzPts val="1000"/>
              <a:buFont typeface="Symbol" panose="05050102010706020507" pitchFamily="18" charset="2"/>
              <a:buChar char=""/>
              <a:tabLst>
                <a:tab pos="457200" algn="l"/>
              </a:tabLst>
            </a:pPr>
            <a:r>
              <a:rPr lang="en-IN" sz="2000" dirty="0">
                <a:latin typeface="Times New Roman"/>
                <a:cs typeface="Times New Roman"/>
              </a:rPr>
              <a:t>Limited real-time data processing</a:t>
            </a:r>
          </a:p>
          <a:p>
            <a:pPr marL="342900" lvl="0" indent="-342900" algn="just">
              <a:lnSpc>
                <a:spcPct val="150000"/>
              </a:lnSpc>
              <a:spcAft>
                <a:spcPts val="800"/>
              </a:spcAft>
              <a:buSzPts val="1000"/>
              <a:buFont typeface="Symbol" panose="05050102010706020507" pitchFamily="18" charset="2"/>
              <a:buChar char=""/>
              <a:tabLst>
                <a:tab pos="457200" algn="l"/>
              </a:tabLst>
            </a:pPr>
            <a:r>
              <a:rPr lang="en-IN" sz="2000" dirty="0">
                <a:latin typeface="Times New Roman"/>
                <a:cs typeface="Times New Roman"/>
              </a:rPr>
              <a:t>Manual model retraining and updates</a:t>
            </a:r>
          </a:p>
          <a:p>
            <a:pPr marL="342900" lvl="0" indent="-342900" algn="just">
              <a:lnSpc>
                <a:spcPct val="150000"/>
              </a:lnSpc>
              <a:spcAft>
                <a:spcPts val="800"/>
              </a:spcAft>
              <a:buSzPts val="1000"/>
              <a:buFont typeface="Symbol" panose="05050102010706020507" pitchFamily="18" charset="2"/>
              <a:buChar char=""/>
              <a:tabLst>
                <a:tab pos="457200" algn="l"/>
              </a:tabLst>
            </a:pPr>
            <a:r>
              <a:rPr lang="en-IN" sz="2000" dirty="0">
                <a:latin typeface="Times New Roman"/>
                <a:cs typeface="Times New Roman"/>
              </a:rPr>
              <a:t>Inaccurate sentiment detection in ambiguous language</a:t>
            </a:r>
          </a:p>
          <a:p>
            <a:pPr marL="342900" lvl="0" indent="-342900" algn="just">
              <a:lnSpc>
                <a:spcPct val="150000"/>
              </a:lnSpc>
              <a:spcAft>
                <a:spcPts val="800"/>
              </a:spcAft>
              <a:buSzPts val="1000"/>
              <a:buFont typeface="Symbol" panose="05050102010706020507" pitchFamily="18" charset="2"/>
              <a:buChar char=""/>
              <a:tabLst>
                <a:tab pos="457200" algn="l"/>
              </a:tabLst>
            </a:pPr>
            <a:r>
              <a:rPr lang="en-IN" sz="2000" dirty="0">
                <a:latin typeface="Times New Roman"/>
                <a:cs typeface="Times New Roman"/>
              </a:rPr>
              <a:t>Lack of integration with business processes</a:t>
            </a:r>
          </a:p>
          <a:p>
            <a:pPr marL="342900" lvl="0" indent="-342900" algn="just">
              <a:lnSpc>
                <a:spcPct val="150000"/>
              </a:lnSpc>
              <a:spcAft>
                <a:spcPts val="800"/>
              </a:spcAft>
              <a:buSzPts val="1000"/>
              <a:buFont typeface="Symbol" panose="05050102010706020507" pitchFamily="18" charset="2"/>
              <a:buChar char=""/>
              <a:tabLst>
                <a:tab pos="457200" algn="l"/>
              </a:tabLst>
            </a:pPr>
            <a:r>
              <a:rPr lang="en-IN" sz="2000" dirty="0">
                <a:latin typeface="Times New Roman"/>
                <a:cs typeface="Times New Roman"/>
              </a:rPr>
              <a:t>Absence of automated monitoring and scalability</a:t>
            </a:r>
          </a:p>
          <a:p>
            <a:pPr algn="just"/>
            <a:endParaRPr lang="en-US" sz="2000" dirty="0">
              <a:latin typeface="Times New Roman" panose="02020603050405020304" pitchFamily="18" charset="0"/>
              <a:cs typeface="Times New Roman" panose="02020603050405020304" pitchFamily="18" charset="0"/>
            </a:endParaRPr>
          </a:p>
        </p:txBody>
      </p:sp>
      <p:sp>
        <p:nvSpPr>
          <p:cNvPr id="1048647" name="TextBox 5"/>
          <p:cNvSpPr txBox="1"/>
          <p:nvPr/>
        </p:nvSpPr>
        <p:spPr>
          <a:xfrm>
            <a:off x="1380869" y="566400"/>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EXISTING SYSTEM</a:t>
            </a:r>
          </a:p>
        </p:txBody>
      </p:sp>
      <p:sp>
        <p:nvSpPr>
          <p:cNvPr id="1048648" name="TextBox 12"/>
          <p:cNvSpPr txBox="1"/>
          <p:nvPr/>
        </p:nvSpPr>
        <p:spPr>
          <a:xfrm>
            <a:off x="852696" y="54175"/>
            <a:ext cx="3431459" cy="369332"/>
          </a:xfrm>
          <a:prstGeom prst="rect">
            <a:avLst/>
          </a:prstGeom>
          <a:noFill/>
        </p:spPr>
        <p:txBody>
          <a:bodyPr wrap="square" rtlCol="0">
            <a:spAutoFit/>
          </a:bodyPr>
          <a:lstStyle/>
          <a:p>
            <a:r>
              <a:rPr lang="en-US" b="1" dirty="0"/>
              <a:t>CS3811-PROJECT WORK</a:t>
            </a:r>
          </a:p>
        </p:txBody>
      </p:sp>
      <p:sp>
        <p:nvSpPr>
          <p:cNvPr id="1048649"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51"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52" name="Rectangle 7"/>
          <p:cNvSpPr/>
          <p:nvPr/>
        </p:nvSpPr>
        <p:spPr>
          <a:xfrm>
            <a:off x="759069" y="466127"/>
            <a:ext cx="41558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53" name="Title 1"/>
          <p:cNvSpPr>
            <a:spLocks noGrp="1"/>
          </p:cNvSpPr>
          <p:nvPr>
            <p:ph type="ctrTitle"/>
          </p:nvPr>
        </p:nvSpPr>
        <p:spPr/>
        <p:txBody>
          <a:bodyPr/>
          <a:lstStyle/>
          <a:p>
            <a:r>
              <a:rPr lang="en-US" dirty="0"/>
              <a:t> </a:t>
            </a:r>
          </a:p>
        </p:txBody>
      </p:sp>
      <p:sp>
        <p:nvSpPr>
          <p:cNvPr id="1048654" name="Subtitle 2"/>
          <p:cNvSpPr>
            <a:spLocks noGrp="1"/>
          </p:cNvSpPr>
          <p:nvPr>
            <p:ph type="subTitle" idx="1"/>
          </p:nvPr>
        </p:nvSpPr>
        <p:spPr>
          <a:xfrm>
            <a:off x="441298" y="1469808"/>
            <a:ext cx="10624808" cy="5048381"/>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latin typeface="Times New Roman"/>
                <a:cs typeface="Times New Roman"/>
              </a:rPr>
              <a:t>The proposed system automates customer sentiment analysis and proactive engagement based on product reviews. It operates in several core stages: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sz="1800" b="1" dirty="0">
                <a:latin typeface="Times New Roman"/>
                <a:cs typeface="Times New Roman"/>
              </a:rPr>
              <a:t>Sentiment Classification</a:t>
            </a:r>
          </a:p>
          <a:p>
            <a:pPr marL="457200" lvl="3" algn="l" rtl="0" eaLnBrk="0" fontAlgn="base" hangingPunct="0">
              <a:spcBef>
                <a:spcPct val="0"/>
              </a:spcBef>
              <a:spcAft>
                <a:spcPct val="0"/>
              </a:spcAft>
              <a:buFontTx/>
              <a:buChar char="•"/>
            </a:pPr>
            <a:r>
              <a:rPr lang="en-US" altLang="en-US" sz="1800" dirty="0">
                <a:latin typeface="Times New Roman"/>
                <a:cs typeface="Times New Roman"/>
              </a:rPr>
              <a:t> Customer reviews are preprocessed and vectorized using TF-IDF.</a:t>
            </a:r>
          </a:p>
          <a:p>
            <a:pPr marL="457200" lvl="1" algn="l" rtl="0" eaLnBrk="0" fontAlgn="base" hangingPunct="0">
              <a:spcBef>
                <a:spcPct val="0"/>
              </a:spcBef>
              <a:spcAft>
                <a:spcPct val="0"/>
              </a:spcAft>
              <a:buFontTx/>
              <a:buChar char="•"/>
            </a:pPr>
            <a:r>
              <a:rPr lang="en-US" altLang="en-US" sz="1800" dirty="0">
                <a:latin typeface="Times New Roman"/>
                <a:cs typeface="Times New Roman"/>
              </a:rPr>
              <a:t> A Random Forest Classifier predicts the sentiment as Positive, Neutral, or Negative, alongside a confidence score.</a:t>
            </a:r>
          </a:p>
          <a:p>
            <a:pPr marL="457200" marR="0" lvl="1" indent="0" algn="l" defTabSz="914400" rtl="0" eaLnBrk="0" fontAlgn="base" latinLnBrk="0" hangingPunct="0">
              <a:lnSpc>
                <a:spcPct val="100000"/>
              </a:lnSpc>
              <a:spcBef>
                <a:spcPct val="0"/>
              </a:spcBef>
              <a:spcAft>
                <a:spcPct val="0"/>
              </a:spcAft>
              <a:buClrTx/>
              <a:buSzTx/>
              <a:tabLst/>
            </a:pPr>
            <a:endParaRPr lang="en-US" altLang="en-US" sz="1800" dirty="0">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altLang="en-US" sz="1800" b="1" dirty="0">
                <a:latin typeface="Times New Roman"/>
                <a:cs typeface="Times New Roman"/>
              </a:rPr>
              <a:t>Database Storage</a:t>
            </a:r>
          </a:p>
          <a:p>
            <a:pPr marL="457200" algn="l" rtl="0" eaLnBrk="0" fontAlgn="base" hangingPunct="0">
              <a:spcBef>
                <a:spcPct val="0"/>
              </a:spcBef>
              <a:spcAft>
                <a:spcPct val="0"/>
              </a:spcAft>
              <a:buFontTx/>
              <a:buChar char="•"/>
            </a:pPr>
            <a:r>
              <a:rPr lang="en-US" altLang="en-US" sz="1800" dirty="0">
                <a:latin typeface="Times New Roman"/>
                <a:cs typeface="Times New Roman"/>
              </a:rPr>
              <a:t> Each review is stored in a MongoDB database with fields including:</a:t>
            </a:r>
          </a:p>
          <a:p>
            <a:pPr marL="457200" algn="l" rtl="0" eaLnBrk="0" fontAlgn="base" hangingPunct="0">
              <a:spcBef>
                <a:spcPct val="0"/>
              </a:spcBef>
              <a:spcAft>
                <a:spcPct val="0"/>
              </a:spcAft>
              <a:buFontTx/>
              <a:buChar char="•"/>
            </a:pPr>
            <a:r>
              <a:rPr lang="en-US" altLang="en-US" sz="1800" dirty="0">
                <a:latin typeface="Times New Roman"/>
                <a:cs typeface="Times New Roman"/>
              </a:rPr>
              <a:t> </a:t>
            </a:r>
            <a:r>
              <a:rPr lang="en-US" altLang="en-US" sz="1800" dirty="0" err="1">
                <a:latin typeface="Times New Roman"/>
                <a:cs typeface="Times New Roman"/>
              </a:rPr>
              <a:t>Review_Text</a:t>
            </a:r>
            <a:r>
              <a:rPr lang="en-US" altLang="en-US" sz="1800" dirty="0">
                <a:latin typeface="Times New Roman"/>
                <a:cs typeface="Times New Roman"/>
              </a:rPr>
              <a:t>, </a:t>
            </a:r>
            <a:r>
              <a:rPr lang="en-US" altLang="en-US" sz="1800" dirty="0" err="1">
                <a:latin typeface="Times New Roman"/>
                <a:cs typeface="Times New Roman"/>
              </a:rPr>
              <a:t>Sentiment_Label</a:t>
            </a:r>
            <a:r>
              <a:rPr lang="en-US" altLang="en-US" sz="1800" dirty="0">
                <a:latin typeface="Times New Roman"/>
                <a:cs typeface="Times New Roman"/>
              </a:rPr>
              <a:t>, </a:t>
            </a:r>
            <a:r>
              <a:rPr lang="en-US" altLang="en-US" sz="1800" dirty="0" err="1">
                <a:latin typeface="Times New Roman"/>
                <a:cs typeface="Times New Roman"/>
              </a:rPr>
              <a:t>Confidence_Score</a:t>
            </a:r>
            <a:r>
              <a:rPr lang="en-US" altLang="en-US" sz="1800" dirty="0">
                <a:latin typeface="Times New Roman"/>
                <a:cs typeface="Times New Roman"/>
              </a:rPr>
              <a:t>, E-mail ID.</a:t>
            </a:r>
          </a:p>
          <a:p>
            <a:pPr marL="914400" marR="0" lvl="2" indent="0" algn="l" defTabSz="914400" rtl="0" eaLnBrk="0" fontAlgn="base" latinLnBrk="0" hangingPunct="0">
              <a:lnSpc>
                <a:spcPct val="100000"/>
              </a:lnSpc>
              <a:spcBef>
                <a:spcPct val="0"/>
              </a:spcBef>
              <a:spcAft>
                <a:spcPct val="0"/>
              </a:spcAft>
              <a:buClrTx/>
              <a:buSzTx/>
              <a:tabLst/>
            </a:pPr>
            <a:endParaRPr lang="en-US" altLang="en-US" dirty="0">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lang="en-US" altLang="en-US" sz="1800" b="1" dirty="0">
                <a:latin typeface="Times New Roman"/>
                <a:cs typeface="Times New Roman"/>
              </a:rPr>
              <a:t>Automated Response System</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Times New Roman"/>
                <a:cs typeface="Times New Roman"/>
              </a:rPr>
              <a:t> Reviews with Negative sentiment and confidence &gt;80% trigger an automated, personalized email to the customer.</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Times New Roman"/>
                <a:cs typeface="Times New Roman"/>
              </a:rPr>
              <a:t> Emails express concern and offer solutions, enhancing customer care.</a:t>
            </a:r>
          </a:p>
          <a:p>
            <a:pPr marL="457200" marR="0" lvl="1"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lang="en-US" altLang="en-US" sz="1800" b="1" dirty="0">
                <a:latin typeface="Times New Roman"/>
                <a:cs typeface="Times New Roman"/>
              </a:rPr>
              <a:t>End-to-End Automation</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Times New Roman"/>
                <a:cs typeface="Times New Roman"/>
              </a:rPr>
              <a:t> Integrated into an </a:t>
            </a:r>
            <a:r>
              <a:rPr lang="en-US" altLang="en-US" sz="1800" dirty="0" err="1">
                <a:latin typeface="Times New Roman"/>
                <a:cs typeface="Times New Roman"/>
              </a:rPr>
              <a:t>MLOps</a:t>
            </a:r>
            <a:r>
              <a:rPr lang="en-US" altLang="en-US" sz="1800" dirty="0">
                <a:latin typeface="Times New Roman"/>
                <a:cs typeface="Times New Roman"/>
              </a:rPr>
              <a:t> pipeline for seamless automation, monitoring, and periodic model retraining.</a:t>
            </a:r>
          </a:p>
          <a:p>
            <a:pPr algn="just"/>
            <a:endParaRPr lang="en-US" sz="1400" dirty="0">
              <a:latin typeface="Times New Roman" panose="02020603050405020304" pitchFamily="18" charset="0"/>
              <a:cs typeface="Times New Roman" panose="02020603050405020304" pitchFamily="18" charset="0"/>
            </a:endParaRPr>
          </a:p>
        </p:txBody>
      </p:sp>
      <p:sp>
        <p:nvSpPr>
          <p:cNvPr id="1048655" name="TextBox 5"/>
          <p:cNvSpPr txBox="1"/>
          <p:nvPr/>
        </p:nvSpPr>
        <p:spPr>
          <a:xfrm>
            <a:off x="861874" y="501498"/>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PROPOSED SYSTEM</a:t>
            </a:r>
          </a:p>
        </p:txBody>
      </p:sp>
      <p:sp>
        <p:nvSpPr>
          <p:cNvPr id="1048656" name="TextBox 12"/>
          <p:cNvSpPr txBox="1"/>
          <p:nvPr/>
        </p:nvSpPr>
        <p:spPr>
          <a:xfrm>
            <a:off x="1170600" y="49687"/>
            <a:ext cx="3431459" cy="369332"/>
          </a:xfrm>
          <a:prstGeom prst="rect">
            <a:avLst/>
          </a:prstGeom>
          <a:noFill/>
        </p:spPr>
        <p:txBody>
          <a:bodyPr wrap="square" rtlCol="0">
            <a:spAutoFit/>
          </a:bodyPr>
          <a:lstStyle/>
          <a:p>
            <a:r>
              <a:rPr lang="en-US" b="1" dirty="0"/>
              <a:t>CS3811-PROJECT WORK</a:t>
            </a:r>
          </a:p>
        </p:txBody>
      </p:sp>
      <p:sp>
        <p:nvSpPr>
          <p:cNvPr id="1048657"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59"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60" name="Rectangle 7"/>
          <p:cNvSpPr/>
          <p:nvPr/>
        </p:nvSpPr>
        <p:spPr>
          <a:xfrm>
            <a:off x="861874" y="483839"/>
            <a:ext cx="364345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63" name="TextBox 5"/>
          <p:cNvSpPr txBox="1"/>
          <p:nvPr/>
        </p:nvSpPr>
        <p:spPr>
          <a:xfrm>
            <a:off x="985185" y="523966"/>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METHODOLOGY</a:t>
            </a:r>
          </a:p>
        </p:txBody>
      </p:sp>
      <p:sp>
        <p:nvSpPr>
          <p:cNvPr id="1048664" name="TextBox 12"/>
          <p:cNvSpPr txBox="1"/>
          <p:nvPr/>
        </p:nvSpPr>
        <p:spPr>
          <a:xfrm>
            <a:off x="985185" y="114507"/>
            <a:ext cx="3431459" cy="369332"/>
          </a:xfrm>
          <a:prstGeom prst="rect">
            <a:avLst/>
          </a:prstGeom>
          <a:noFill/>
        </p:spPr>
        <p:txBody>
          <a:bodyPr wrap="square" rtlCol="0">
            <a:spAutoFit/>
          </a:bodyPr>
          <a:lstStyle/>
          <a:p>
            <a:r>
              <a:rPr lang="en-US" b="1"/>
              <a:t>CS3811-PROJECT WORK</a:t>
            </a:r>
            <a:endParaRPr lang="en-US" b="1" dirty="0"/>
          </a:p>
        </p:txBody>
      </p:sp>
      <p:sp>
        <p:nvSpPr>
          <p:cNvPr id="1048665"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Subtitle 1">
            <a:extLst>
              <a:ext uri="{FF2B5EF4-FFF2-40B4-BE49-F238E27FC236}">
                <a16:creationId xmlns:a16="http://schemas.microsoft.com/office/drawing/2014/main" id="{CA9F31AF-AF42-5E3A-0E28-3E64D490F570}"/>
              </a:ext>
            </a:extLst>
          </p:cNvPr>
          <p:cNvSpPr>
            <a:spLocks noGrp="1" noChangeArrowheads="1"/>
          </p:cNvSpPr>
          <p:nvPr>
            <p:ph type="subTitle" idx="1"/>
          </p:nvPr>
        </p:nvSpPr>
        <p:spPr bwMode="auto">
          <a:xfrm>
            <a:off x="585997" y="1774867"/>
            <a:ext cx="11282542"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Data Collection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reviews are gathered from various sources such as surveys, product feedback forms, and e-commerce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Data Preprocessing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data is cleaned by removing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stopwords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punctuation, and irrelevant symbols. Tokenization and normalization are applied.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Feature Extraction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TF-IDF vectorization is used to convert preprocessed text into numerical feature vectors suitable for machine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Model Training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Random Forest Classifier is trained on labeled sentiment data (positive, neutral, negative) to learn classification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Sentiment Prediction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trained model predicts the sentiment of new customer feedback in real time with a confidence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Database Storage</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sentiment labels, and confidence scores are stored in MongoDB for analysis and future retraining.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Alert Notification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negative sentiment is detected, an automated personalized email alert is triggered to customer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a:t>
            </a:r>
            <a:r>
              <a:rPr kumimoji="0" lang="en-US" altLang="en-US" sz="1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MLOps</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Pipeline</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integration and monitoring are implemented using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MLflow</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model versioning, retraining, and production stability.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67"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68" name="Rectangle 7"/>
          <p:cNvSpPr/>
          <p:nvPr/>
        </p:nvSpPr>
        <p:spPr>
          <a:xfrm>
            <a:off x="696783" y="464029"/>
            <a:ext cx="4895633"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71" name="TextBox 5"/>
          <p:cNvSpPr txBox="1"/>
          <p:nvPr/>
        </p:nvSpPr>
        <p:spPr>
          <a:xfrm>
            <a:off x="753444" y="497301"/>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TOOLS AND TECHNOLOGIES</a:t>
            </a:r>
          </a:p>
        </p:txBody>
      </p:sp>
      <p:sp>
        <p:nvSpPr>
          <p:cNvPr id="1048672" name="TextBox 12"/>
          <p:cNvSpPr txBox="1"/>
          <p:nvPr/>
        </p:nvSpPr>
        <p:spPr>
          <a:xfrm>
            <a:off x="585996" y="96766"/>
            <a:ext cx="3431459" cy="369332"/>
          </a:xfrm>
          <a:prstGeom prst="rect">
            <a:avLst/>
          </a:prstGeom>
          <a:noFill/>
        </p:spPr>
        <p:txBody>
          <a:bodyPr wrap="square" rtlCol="0">
            <a:spAutoFit/>
          </a:bodyPr>
          <a:lstStyle/>
          <a:p>
            <a:r>
              <a:rPr lang="en-US" b="1" dirty="0"/>
              <a:t>CS3811-PROJECT WORK</a:t>
            </a:r>
          </a:p>
        </p:txBody>
      </p:sp>
      <p:sp>
        <p:nvSpPr>
          <p:cNvPr id="1048673"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Subtitle 1">
            <a:extLst>
              <a:ext uri="{FF2B5EF4-FFF2-40B4-BE49-F238E27FC236}">
                <a16:creationId xmlns:a16="http://schemas.microsoft.com/office/drawing/2014/main" id="{7B5641C6-A2BF-83C7-C1FD-8299E4565550}"/>
              </a:ext>
            </a:extLst>
          </p:cNvPr>
          <p:cNvSpPr>
            <a:spLocks noGrp="1" noChangeArrowheads="1"/>
          </p:cNvSpPr>
          <p:nvPr>
            <p:ph type="subTitle" idx="1"/>
          </p:nvPr>
        </p:nvSpPr>
        <p:spPr bwMode="auto">
          <a:xfrm>
            <a:off x="441325" y="1922548"/>
            <a:ext cx="1139922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Framework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Flask (Backend), HTML/CSS (Frontend)</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Natural Language 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NLTK, Scikit-learn, TF-IDF Vectorization</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Algorithm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Random Forest Classifier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MongoDB (NoSQL for storing sentiment-labeled reviews)</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Monitoring &amp; Deployment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MLflow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GitHub Actions (CI/CD)</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Versioning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DVC (Data Version Control)</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&amp; Reporting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Matplotlib, Seaborn</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Email Automation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SMTP (Python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smtplib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alert notifications</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Environment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 VS Code</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Localhost (test) with cloud-ready Docker support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75"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76" name="Rectangle 7"/>
          <p:cNvSpPr/>
          <p:nvPr/>
        </p:nvSpPr>
        <p:spPr>
          <a:xfrm>
            <a:off x="585996" y="457454"/>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7" name="Title 1"/>
          <p:cNvSpPr>
            <a:spLocks noGrp="1"/>
          </p:cNvSpPr>
          <p:nvPr>
            <p:ph type="ctrTitle"/>
          </p:nvPr>
        </p:nvSpPr>
        <p:spPr/>
        <p:txBody>
          <a:bodyPr/>
          <a:lstStyle/>
          <a:p>
            <a:r>
              <a:rPr lang="en-US" dirty="0"/>
              <a:t> </a:t>
            </a:r>
          </a:p>
        </p:txBody>
      </p:sp>
      <p:sp>
        <p:nvSpPr>
          <p:cNvPr id="1048679" name="TextBox 5"/>
          <p:cNvSpPr txBox="1"/>
          <p:nvPr/>
        </p:nvSpPr>
        <p:spPr>
          <a:xfrm>
            <a:off x="786339" y="484152"/>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SYSTEM ARCHITECTURE</a:t>
            </a:r>
          </a:p>
        </p:txBody>
      </p:sp>
      <p:sp>
        <p:nvSpPr>
          <p:cNvPr id="1048680" name="TextBox 12"/>
          <p:cNvSpPr txBox="1"/>
          <p:nvPr/>
        </p:nvSpPr>
        <p:spPr>
          <a:xfrm>
            <a:off x="514349" y="74693"/>
            <a:ext cx="3431459" cy="369332"/>
          </a:xfrm>
          <a:prstGeom prst="rect">
            <a:avLst/>
          </a:prstGeom>
          <a:noFill/>
        </p:spPr>
        <p:txBody>
          <a:bodyPr wrap="square" rtlCol="0">
            <a:spAutoFit/>
          </a:bodyPr>
          <a:lstStyle/>
          <a:p>
            <a:r>
              <a:rPr lang="en-US" b="1" dirty="0"/>
              <a:t>CS3811-PROJECT WORK</a:t>
            </a:r>
          </a:p>
        </p:txBody>
      </p:sp>
      <p:sp>
        <p:nvSpPr>
          <p:cNvPr id="1048681"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pic>
        <p:nvPicPr>
          <p:cNvPr id="2" name="Picture 1">
            <a:extLst>
              <a:ext uri="{FF2B5EF4-FFF2-40B4-BE49-F238E27FC236}">
                <a16:creationId xmlns:a16="http://schemas.microsoft.com/office/drawing/2014/main" id="{2168382F-1591-C761-7CA4-B3071645B573}"/>
              </a:ext>
            </a:extLst>
          </p:cNvPr>
          <p:cNvPicPr>
            <a:picLocks noChangeAspect="1"/>
          </p:cNvPicPr>
          <p:nvPr/>
        </p:nvPicPr>
        <p:blipFill>
          <a:blip r:embed="rId2"/>
          <a:srcRect l="5555" t="10968" b="11482"/>
          <a:stretch/>
        </p:blipFill>
        <p:spPr>
          <a:xfrm>
            <a:off x="3763250" y="1122363"/>
            <a:ext cx="4319354" cy="5117485"/>
          </a:xfrm>
          <a:prstGeom prst="rect">
            <a:avLst/>
          </a:prstGeom>
          <a:ln>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83"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84"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85" name="Title 1"/>
          <p:cNvSpPr>
            <a:spLocks noGrp="1"/>
          </p:cNvSpPr>
          <p:nvPr>
            <p:ph type="ctrTitle"/>
          </p:nvPr>
        </p:nvSpPr>
        <p:spPr/>
        <p:txBody>
          <a:bodyPr/>
          <a:lstStyle/>
          <a:p>
            <a:r>
              <a:rPr lang="en-US" dirty="0"/>
              <a:t> </a:t>
            </a:r>
          </a:p>
        </p:txBody>
      </p:sp>
      <p:sp>
        <p:nvSpPr>
          <p:cNvPr id="1048686" name="Subtitle 2"/>
          <p:cNvSpPr>
            <a:spLocks noGrp="1"/>
          </p:cNvSpPr>
          <p:nvPr>
            <p:ph type="subTitle" idx="1"/>
          </p:nvPr>
        </p:nvSpPr>
        <p:spPr>
          <a:xfrm>
            <a:off x="585996" y="1338087"/>
            <a:ext cx="10302237" cy="5153057"/>
          </a:xfrm>
        </p:spPr>
        <p:txBody>
          <a:bodyPr>
            <a:noAutofit/>
          </a:bodyPr>
          <a:lstStyle/>
          <a:p>
            <a:pPr algn="just">
              <a:lnSpc>
                <a:spcPct val="150000"/>
              </a:lnSpc>
              <a:buNone/>
            </a:pPr>
            <a:r>
              <a:rPr lang="en-US" sz="1600" b="1" dirty="0">
                <a:latin typeface="Times New Roman" panose="02020603050405020304" pitchFamily="18" charset="0"/>
                <a:cs typeface="Times New Roman" panose="02020603050405020304" pitchFamily="18" charset="0"/>
              </a:rPr>
              <a:t>1. Data Collection Module</a:t>
            </a:r>
            <a:endParaRPr lang="en-US" sz="1600" dirty="0">
              <a:latin typeface="Times New Roman" panose="02020603050405020304" pitchFamily="18" charset="0"/>
              <a:cs typeface="Times New Roman" panose="02020603050405020304" pitchFamily="18" charset="0"/>
            </a:endParaRPr>
          </a:p>
          <a:p>
            <a:pPr marL="457200" lvl="1" indent="-457200" algn="just">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Aggregates customer reviews and sentiment-rich feedback from diverse e-commerce sources such as Amazon and Flipkart.</a:t>
            </a:r>
          </a:p>
          <a:p>
            <a:pPr marL="457200" lvl="1" indent="-457200" algn="just">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Employs web scraping tools and REST APIs for automated, scalable, and real-time data extraction.</a:t>
            </a:r>
          </a:p>
          <a:p>
            <a:pPr marL="457200" lvl="1" indent="-457200" algn="just">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Ensures the collected data spans multiple product categories and customer opinions for broader generalization.</a:t>
            </a:r>
          </a:p>
          <a:p>
            <a:pPr lvl="1"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buNone/>
            </a:pPr>
            <a:r>
              <a:rPr lang="en-US" sz="1600" b="1" dirty="0">
                <a:latin typeface="Times New Roman" panose="02020603050405020304" pitchFamily="18" charset="0"/>
                <a:cs typeface="Times New Roman" panose="02020603050405020304" pitchFamily="18" charset="0"/>
              </a:rPr>
              <a:t>2. Data Preprocessing Module</a:t>
            </a:r>
            <a:endParaRPr lang="en-US" sz="1600" dirty="0">
              <a:latin typeface="Times New Roman" panose="02020603050405020304" pitchFamily="18" charset="0"/>
              <a:cs typeface="Times New Roman" panose="02020603050405020304" pitchFamily="18" charset="0"/>
            </a:endParaRPr>
          </a:p>
          <a:p>
            <a:pPr marL="457200" lvl="4"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Cleanses and standardizes raw textual data to enhance model input quality.</a:t>
            </a:r>
          </a:p>
          <a:p>
            <a:pPr marL="457200" lvl="4"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Performs operations including:</a:t>
            </a:r>
          </a:p>
          <a:p>
            <a:pPr marL="914400" lvl="5"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Removal of </a:t>
            </a:r>
            <a:r>
              <a:rPr lang="en-US" dirty="0" err="1">
                <a:latin typeface="Times New Roman" panose="02020603050405020304" pitchFamily="18" charset="0"/>
                <a:cs typeface="Times New Roman" panose="02020603050405020304" pitchFamily="18" charset="0"/>
              </a:rPr>
              <a:t>stopwords</a:t>
            </a:r>
            <a:r>
              <a:rPr lang="en-US" dirty="0">
                <a:latin typeface="Times New Roman" panose="02020603050405020304" pitchFamily="18" charset="0"/>
                <a:cs typeface="Times New Roman" panose="02020603050405020304" pitchFamily="18" charset="0"/>
              </a:rPr>
              <a:t>, special characters, and irrelevant HTML tags</a:t>
            </a:r>
          </a:p>
          <a:p>
            <a:pPr marL="914400" lvl="5"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Handling of missing data and noisy entries</a:t>
            </a:r>
          </a:p>
          <a:p>
            <a:pPr marL="457200" lvl="4"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Outputs a refined and machine-readable dataset for reliable feature extraction.</a:t>
            </a:r>
          </a:p>
          <a:p>
            <a:pPr algn="just"/>
            <a:endParaRPr lang="en-US" sz="1200" dirty="0">
              <a:latin typeface="Times New Roman" panose="02020603050405020304" pitchFamily="18" charset="0"/>
              <a:cs typeface="Times New Roman" panose="02020603050405020304" pitchFamily="18" charset="0"/>
            </a:endParaRPr>
          </a:p>
        </p:txBody>
      </p:sp>
      <p:sp>
        <p:nvSpPr>
          <p:cNvPr id="1048687" name="TextBox 5"/>
          <p:cNvSpPr txBox="1"/>
          <p:nvPr/>
        </p:nvSpPr>
        <p:spPr>
          <a:xfrm>
            <a:off x="968521" y="508914"/>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MODULE DESCRIPTION</a:t>
            </a:r>
          </a:p>
        </p:txBody>
      </p:sp>
      <p:sp>
        <p:nvSpPr>
          <p:cNvPr id="1048688"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89" name="Rectangle 8"/>
          <p:cNvSpPr/>
          <p:nvPr/>
        </p:nvSpPr>
        <p:spPr>
          <a:xfrm>
            <a:off x="-1" y="6511208"/>
            <a:ext cx="10943879" cy="923330"/>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B3A17-EECB-AE6D-B390-D20F48E85903}"/>
            </a:ext>
          </a:extLst>
        </p:cNvPr>
        <p:cNvGrpSpPr/>
        <p:nvPr/>
      </p:nvGrpSpPr>
      <p:grpSpPr>
        <a:xfrm>
          <a:off x="0" y="0"/>
          <a:ext cx="0" cy="0"/>
          <a:chOff x="0" y="0"/>
          <a:chExt cx="0" cy="0"/>
        </a:xfrm>
      </p:grpSpPr>
      <p:sp>
        <p:nvSpPr>
          <p:cNvPr id="1048682" name="Right Triangle 1">
            <a:extLst>
              <a:ext uri="{FF2B5EF4-FFF2-40B4-BE49-F238E27FC236}">
                <a16:creationId xmlns:a16="http://schemas.microsoft.com/office/drawing/2014/main" id="{84E15134-F41F-04B6-0CDB-F76161B3E4BD}"/>
              </a:ext>
            </a:extLst>
          </p:cNvPr>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83" name="Freeform: Shape 2">
            <a:extLst>
              <a:ext uri="{FF2B5EF4-FFF2-40B4-BE49-F238E27FC236}">
                <a16:creationId xmlns:a16="http://schemas.microsoft.com/office/drawing/2014/main" id="{9645D06A-C1B7-D287-9105-EAC6645A8C47}"/>
              </a:ext>
            </a:extLst>
          </p:cNvPr>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84" name="Rectangle 7">
            <a:extLst>
              <a:ext uri="{FF2B5EF4-FFF2-40B4-BE49-F238E27FC236}">
                <a16:creationId xmlns:a16="http://schemas.microsoft.com/office/drawing/2014/main" id="{C0A9DBE2-716D-A695-3D3E-71006B40DA95}"/>
              </a:ext>
            </a:extLst>
          </p:cNvPr>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85" name="Title 1">
            <a:extLst>
              <a:ext uri="{FF2B5EF4-FFF2-40B4-BE49-F238E27FC236}">
                <a16:creationId xmlns:a16="http://schemas.microsoft.com/office/drawing/2014/main" id="{647F54D2-675F-CBE1-DE55-7CCB948EFE39}"/>
              </a:ext>
            </a:extLst>
          </p:cNvPr>
          <p:cNvSpPr>
            <a:spLocks noGrp="1"/>
          </p:cNvSpPr>
          <p:nvPr>
            <p:ph type="ctrTitle"/>
          </p:nvPr>
        </p:nvSpPr>
        <p:spPr/>
        <p:txBody>
          <a:bodyPr/>
          <a:lstStyle/>
          <a:p>
            <a:r>
              <a:rPr lang="en-US" dirty="0"/>
              <a:t> </a:t>
            </a:r>
          </a:p>
        </p:txBody>
      </p:sp>
      <p:sp>
        <p:nvSpPr>
          <p:cNvPr id="1048686" name="Subtitle 2">
            <a:extLst>
              <a:ext uri="{FF2B5EF4-FFF2-40B4-BE49-F238E27FC236}">
                <a16:creationId xmlns:a16="http://schemas.microsoft.com/office/drawing/2014/main" id="{6A4DE4C0-7900-E6B3-08F1-15E2A31786F0}"/>
              </a:ext>
            </a:extLst>
          </p:cNvPr>
          <p:cNvSpPr>
            <a:spLocks noGrp="1"/>
          </p:cNvSpPr>
          <p:nvPr>
            <p:ph type="subTitle" idx="1"/>
          </p:nvPr>
        </p:nvSpPr>
        <p:spPr>
          <a:xfrm>
            <a:off x="617748" y="1264224"/>
            <a:ext cx="10722706" cy="5122283"/>
          </a:xfrm>
        </p:spPr>
        <p:txBody>
          <a:bodyPr>
            <a:noAutofit/>
          </a:bodyPr>
          <a:lstStyle/>
          <a:p>
            <a:pPr algn="just">
              <a:lnSpc>
                <a:spcPct val="150000"/>
              </a:lnSpc>
            </a:pPr>
            <a:r>
              <a:rPr lang="en-IN" sz="1600" b="1" dirty="0">
                <a:latin typeface="Times New Roman" panose="02020603050405020304" pitchFamily="18" charset="0"/>
                <a:cs typeface="Times New Roman" panose="02020603050405020304" pitchFamily="18" charset="0"/>
              </a:rPr>
              <a:t>3. Feature Extraction Module</a:t>
            </a:r>
            <a:endParaRPr lang="en-IN" sz="1600" dirty="0">
              <a:latin typeface="Times New Roman" panose="02020603050405020304" pitchFamily="18" charset="0"/>
              <a:cs typeface="Times New Roman" panose="02020603050405020304" pitchFamily="18" charset="0"/>
            </a:endParaRPr>
          </a:p>
          <a:p>
            <a:pPr marL="742950" lvl="2" indent="-285750"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Transforms cleaned text into numerical representations using NLP techniques:</a:t>
            </a:r>
          </a:p>
          <a:p>
            <a:pPr lvl="3" indent="-45720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Tokenization to split sentences into words</a:t>
            </a:r>
          </a:p>
          <a:p>
            <a:pPr lvl="3" indent="-45720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Sentiment lexicon mapping to associate words with polarity scores</a:t>
            </a:r>
          </a:p>
          <a:p>
            <a:pPr lvl="3" indent="-45720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Vectorization using methods like TF-IDF and Word2Vec for contextual relevance</a:t>
            </a:r>
          </a:p>
          <a:p>
            <a:pPr lvl="2" indent="-457200"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Extracts domain-specific sentiment patterns and encodes them as feature vectors for model input.</a:t>
            </a:r>
          </a:p>
          <a:p>
            <a:pPr marL="0" lvl="1" algn="just">
              <a:lnSpc>
                <a:spcPct val="150000"/>
              </a:lnSpc>
            </a:pPr>
            <a:r>
              <a:rPr lang="en-IN" sz="1600" b="1" dirty="0">
                <a:latin typeface="Times New Roman" panose="02020603050405020304" pitchFamily="18" charset="0"/>
                <a:cs typeface="Times New Roman" panose="02020603050405020304" pitchFamily="18" charset="0"/>
              </a:rPr>
              <a:t>4. Model Training Module</a:t>
            </a:r>
            <a:endParaRPr lang="en-IN" sz="1600" dirty="0">
              <a:latin typeface="Times New Roman" panose="02020603050405020304" pitchFamily="18" charset="0"/>
              <a:cs typeface="Times New Roman" panose="02020603050405020304" pitchFamily="18" charset="0"/>
            </a:endParaRPr>
          </a:p>
          <a:p>
            <a:pPr lvl="2" indent="-457200"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Implements supervised machine learning algorithms for sentiment classification:</a:t>
            </a:r>
          </a:p>
          <a:p>
            <a:pPr lvl="3" indent="-457200" algn="just">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Random Forest</a:t>
            </a:r>
            <a:r>
              <a:rPr lang="en-IN" dirty="0">
                <a:latin typeface="Times New Roman" panose="02020603050405020304" pitchFamily="18" charset="0"/>
                <a:cs typeface="Times New Roman" panose="02020603050405020304" pitchFamily="18" charset="0"/>
              </a:rPr>
              <a:t>: Robust ensemble classifier resistant to overfitting</a:t>
            </a:r>
          </a:p>
          <a:p>
            <a:pPr lvl="3" indent="-457200" algn="just">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SVM (Support Vector Machine)</a:t>
            </a:r>
            <a:r>
              <a:rPr lang="en-IN" dirty="0">
                <a:latin typeface="Times New Roman" panose="02020603050405020304" pitchFamily="18" charset="0"/>
                <a:cs typeface="Times New Roman" panose="02020603050405020304" pitchFamily="18" charset="0"/>
              </a:rPr>
              <a:t>: High-performance binary classifier for text sentiment separation</a:t>
            </a:r>
          </a:p>
          <a:p>
            <a:pPr lvl="3" indent="-457200" algn="just">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BERT</a:t>
            </a:r>
            <a:r>
              <a:rPr lang="en-IN" dirty="0">
                <a:latin typeface="Times New Roman" panose="02020603050405020304" pitchFamily="18" charset="0"/>
                <a:cs typeface="Times New Roman" panose="02020603050405020304" pitchFamily="18" charset="0"/>
              </a:rPr>
              <a:t>: Transformer-based deep learning model capturing contextual dependencies</a:t>
            </a:r>
          </a:p>
          <a:p>
            <a:pPr lvl="2" indent="-457200" algn="just">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Trains and validates models on 1000+ labelled customer reviews for optimized accuracy.</a:t>
            </a:r>
          </a:p>
          <a:p>
            <a:pPr algn="just"/>
            <a:endParaRPr lang="en-US" sz="900" dirty="0">
              <a:latin typeface="Times New Roman" panose="02020603050405020304" pitchFamily="18" charset="0"/>
              <a:cs typeface="Times New Roman" panose="02020603050405020304" pitchFamily="18" charset="0"/>
            </a:endParaRPr>
          </a:p>
        </p:txBody>
      </p:sp>
      <p:sp>
        <p:nvSpPr>
          <p:cNvPr id="1048687" name="TextBox 5">
            <a:extLst>
              <a:ext uri="{FF2B5EF4-FFF2-40B4-BE49-F238E27FC236}">
                <a16:creationId xmlns:a16="http://schemas.microsoft.com/office/drawing/2014/main" id="{8482162F-C303-C427-663D-05D4127D35F1}"/>
              </a:ext>
            </a:extLst>
          </p:cNvPr>
          <p:cNvSpPr txBox="1"/>
          <p:nvPr/>
        </p:nvSpPr>
        <p:spPr>
          <a:xfrm>
            <a:off x="968521" y="508914"/>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MODULE DESCRIPTION</a:t>
            </a:r>
          </a:p>
        </p:txBody>
      </p:sp>
      <p:sp>
        <p:nvSpPr>
          <p:cNvPr id="1048688" name="TextBox 12">
            <a:extLst>
              <a:ext uri="{FF2B5EF4-FFF2-40B4-BE49-F238E27FC236}">
                <a16:creationId xmlns:a16="http://schemas.microsoft.com/office/drawing/2014/main" id="{A5249D8B-D76F-E50F-606C-E362F9F59225}"/>
              </a:ext>
            </a:extLst>
          </p:cNvPr>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89" name="Rectangle 8">
            <a:extLst>
              <a:ext uri="{FF2B5EF4-FFF2-40B4-BE49-F238E27FC236}">
                <a16:creationId xmlns:a16="http://schemas.microsoft.com/office/drawing/2014/main" id="{EFDC0297-8303-F23C-CBE1-352EF95383F8}"/>
              </a:ext>
            </a:extLst>
          </p:cNvPr>
          <p:cNvSpPr/>
          <p:nvPr/>
        </p:nvSpPr>
        <p:spPr>
          <a:xfrm>
            <a:off x="-1" y="6511208"/>
            <a:ext cx="10943879" cy="923330"/>
          </a:xfrm>
          <a:prstGeom prst="rect">
            <a:avLst/>
          </a:prstGeom>
        </p:spPr>
        <p:txBody>
          <a:bodyPr wrap="square">
            <a:spAutoFit/>
          </a:bodyPr>
          <a:lstStyle/>
          <a:p>
            <a:r>
              <a:rPr lang="en-US" b="1" dirty="0"/>
              <a:t>DEPARTMENT OF CSE                                                                                                                             14/05/2025</a:t>
            </a:r>
          </a:p>
          <a:p>
            <a:endParaRPr lang="en-US" b="1" dirty="0"/>
          </a:p>
          <a:p>
            <a:endParaRPr lang="en-US" dirty="0"/>
          </a:p>
        </p:txBody>
      </p:sp>
    </p:spTree>
    <p:extLst>
      <p:ext uri="{BB962C8B-B14F-4D97-AF65-F5344CB8AC3E}">
        <p14:creationId xmlns:p14="http://schemas.microsoft.com/office/powerpoint/2010/main" val="2205611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4943-C1DD-CB46-7783-94C2F238CA9D}"/>
            </a:ext>
          </a:extLst>
        </p:cNvPr>
        <p:cNvGrpSpPr/>
        <p:nvPr/>
      </p:nvGrpSpPr>
      <p:grpSpPr>
        <a:xfrm>
          <a:off x="0" y="0"/>
          <a:ext cx="0" cy="0"/>
          <a:chOff x="0" y="0"/>
          <a:chExt cx="0" cy="0"/>
        </a:xfrm>
      </p:grpSpPr>
      <p:sp>
        <p:nvSpPr>
          <p:cNvPr id="1048682" name="Right Triangle 1">
            <a:extLst>
              <a:ext uri="{FF2B5EF4-FFF2-40B4-BE49-F238E27FC236}">
                <a16:creationId xmlns:a16="http://schemas.microsoft.com/office/drawing/2014/main" id="{6D372B3F-FF91-8577-BF6A-04E119C3313F}"/>
              </a:ext>
            </a:extLst>
          </p:cNvPr>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83" name="Freeform: Shape 2">
            <a:extLst>
              <a:ext uri="{FF2B5EF4-FFF2-40B4-BE49-F238E27FC236}">
                <a16:creationId xmlns:a16="http://schemas.microsoft.com/office/drawing/2014/main" id="{59837849-A145-2375-DAE3-7A898D75F93F}"/>
              </a:ext>
            </a:extLst>
          </p:cNvPr>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84" name="Rectangle 7">
            <a:extLst>
              <a:ext uri="{FF2B5EF4-FFF2-40B4-BE49-F238E27FC236}">
                <a16:creationId xmlns:a16="http://schemas.microsoft.com/office/drawing/2014/main" id="{9958EB3B-F865-F867-A09B-886ECC4EBCD7}"/>
              </a:ext>
            </a:extLst>
          </p:cNvPr>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85" name="Title 1">
            <a:extLst>
              <a:ext uri="{FF2B5EF4-FFF2-40B4-BE49-F238E27FC236}">
                <a16:creationId xmlns:a16="http://schemas.microsoft.com/office/drawing/2014/main" id="{C54808EE-DB47-0BA5-7EE9-423FF3442E7C}"/>
              </a:ext>
            </a:extLst>
          </p:cNvPr>
          <p:cNvSpPr>
            <a:spLocks noGrp="1"/>
          </p:cNvSpPr>
          <p:nvPr>
            <p:ph type="ctrTitle"/>
          </p:nvPr>
        </p:nvSpPr>
        <p:spPr/>
        <p:txBody>
          <a:bodyPr/>
          <a:lstStyle/>
          <a:p>
            <a:r>
              <a:rPr lang="en-US" dirty="0"/>
              <a:t> </a:t>
            </a:r>
          </a:p>
        </p:txBody>
      </p:sp>
      <p:sp>
        <p:nvSpPr>
          <p:cNvPr id="1048686" name="Subtitle 2">
            <a:extLst>
              <a:ext uri="{FF2B5EF4-FFF2-40B4-BE49-F238E27FC236}">
                <a16:creationId xmlns:a16="http://schemas.microsoft.com/office/drawing/2014/main" id="{F7BB8BEE-14E3-2DB5-027C-80CE3604D046}"/>
              </a:ext>
            </a:extLst>
          </p:cNvPr>
          <p:cNvSpPr>
            <a:spLocks noGrp="1"/>
          </p:cNvSpPr>
          <p:nvPr>
            <p:ph type="subTitle" idx="1"/>
          </p:nvPr>
        </p:nvSpPr>
        <p:spPr>
          <a:xfrm>
            <a:off x="617748" y="1264224"/>
            <a:ext cx="10722706" cy="5122283"/>
          </a:xfrm>
        </p:spPr>
        <p:txBody>
          <a:bodyPr>
            <a:noAutofit/>
          </a:bodyPr>
          <a:lstStyle/>
          <a:p>
            <a:pPr algn="just">
              <a:lnSpc>
                <a:spcPct val="150000"/>
              </a:lnSpc>
              <a:buNone/>
            </a:pPr>
            <a:r>
              <a:rPr lang="en-IN" sz="16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5. Sentiment Prediction Module</a:t>
            </a:r>
            <a:endParaRPr lang="en-US" sz="1600" dirty="0">
              <a:latin typeface="Times New Roman" panose="02020603050405020304" pitchFamily="18" charset="0"/>
              <a:cs typeface="Times New Roman" panose="02020603050405020304" pitchFamily="18" charset="0"/>
            </a:endParaRPr>
          </a:p>
          <a:p>
            <a:pPr marL="914400" lvl="1" indent="-457200" algn="just">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Deploys trained models to classify incoming feedback in real time as </a:t>
            </a:r>
            <a:r>
              <a:rPr lang="en-US" sz="1600" b="1" dirty="0">
                <a:latin typeface="Times New Roman" panose="02020603050405020304" pitchFamily="18" charset="0"/>
                <a:cs typeface="Times New Roman" panose="02020603050405020304" pitchFamily="18" charset="0"/>
              </a:rPr>
              <a:t>Positive</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Negative</a:t>
            </a:r>
            <a:r>
              <a:rPr lang="en-US" sz="1600" dirty="0">
                <a:latin typeface="Times New Roman" panose="02020603050405020304" pitchFamily="18" charset="0"/>
                <a:cs typeface="Times New Roman" panose="02020603050405020304" pitchFamily="18" charset="0"/>
              </a:rPr>
              <a:t>, or </a:t>
            </a:r>
            <a:r>
              <a:rPr lang="en-US" sz="1600" b="1" dirty="0">
                <a:latin typeface="Times New Roman" panose="02020603050405020304" pitchFamily="18" charset="0"/>
                <a:cs typeface="Times New Roman" panose="02020603050405020304" pitchFamily="18" charset="0"/>
              </a:rPr>
              <a:t>Neutral</a:t>
            </a:r>
            <a:r>
              <a:rPr lang="en-US" sz="1600" dirty="0">
                <a:latin typeface="Times New Roman" panose="02020603050405020304" pitchFamily="18" charset="0"/>
                <a:cs typeface="Times New Roman" panose="02020603050405020304" pitchFamily="18" charset="0"/>
              </a:rPr>
              <a:t>.</a:t>
            </a:r>
          </a:p>
          <a:p>
            <a:pPr marL="914400" lvl="1" indent="-457200" algn="just">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Ensures dynamic updates and response generation for continuous customer feedback analysis.</a:t>
            </a:r>
          </a:p>
          <a:p>
            <a:pPr marL="914400" lvl="1" indent="-457200" algn="just">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Supports integration with live user interfaces or feedback dashboards for actionable insights.</a:t>
            </a:r>
          </a:p>
          <a:p>
            <a:pPr algn="just">
              <a:lnSpc>
                <a:spcPct val="150000"/>
              </a:lnSpc>
            </a:pPr>
            <a:endParaRPr lang="en-US" sz="1600" b="1"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6. </a:t>
            </a:r>
            <a:r>
              <a:rPr lang="en-US" sz="1600" b="1" dirty="0" err="1">
                <a:latin typeface="Times New Roman" panose="02020603050405020304" pitchFamily="18" charset="0"/>
                <a:cs typeface="Times New Roman" panose="02020603050405020304" pitchFamily="18" charset="0"/>
              </a:rPr>
              <a:t>MLOps</a:t>
            </a:r>
            <a:r>
              <a:rPr lang="en-US" sz="1600" b="1" dirty="0">
                <a:latin typeface="Times New Roman" panose="02020603050405020304" pitchFamily="18" charset="0"/>
                <a:cs typeface="Times New Roman" panose="02020603050405020304" pitchFamily="18" charset="0"/>
              </a:rPr>
              <a:t> Pipeline Module</a:t>
            </a:r>
            <a:endParaRPr lang="en-US" sz="1600" dirty="0">
              <a:latin typeface="Times New Roman" panose="02020603050405020304" pitchFamily="18" charset="0"/>
              <a:cs typeface="Times New Roman" panose="02020603050405020304" pitchFamily="18" charset="0"/>
            </a:endParaRPr>
          </a:p>
          <a:p>
            <a:pPr marL="914400" lvl="4"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Orchestrates the end-to-end lifecycle from model training to deployment.</a:t>
            </a:r>
          </a:p>
          <a:p>
            <a:pPr marL="914400" lvl="4"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Enables continuous integration and delivery (CI/CD) with automatic retraining upon data drift detection.</a:t>
            </a:r>
          </a:p>
          <a:p>
            <a:pPr marL="914400" lvl="4"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Incorporates model versioning, monitoring, and logging for reliability and reproducibility.</a:t>
            </a:r>
          </a:p>
          <a:p>
            <a:pPr marL="914400" lvl="4" indent="-4572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Streamlines production workflows ensuring scalable and maintainable sentiment analysis infrastructure.</a:t>
            </a:r>
          </a:p>
          <a:p>
            <a:pPr lvl="1" algn="just">
              <a:lnSpc>
                <a:spcPct val="150000"/>
              </a:lnSpc>
            </a:pPr>
            <a:endParaRPr lang="en-IN" sz="1600" dirty="0">
              <a:latin typeface="Times New Roman" panose="02020603050405020304" pitchFamily="18" charset="0"/>
              <a:cs typeface="Times New Roman" panose="02020603050405020304" pitchFamily="18" charset="0"/>
            </a:endParaRPr>
          </a:p>
          <a:p>
            <a:pPr algn="just"/>
            <a:endParaRPr lang="en-US" sz="500" dirty="0">
              <a:latin typeface="Times New Roman" panose="02020603050405020304" pitchFamily="18" charset="0"/>
              <a:cs typeface="Times New Roman" panose="02020603050405020304" pitchFamily="18" charset="0"/>
            </a:endParaRPr>
          </a:p>
        </p:txBody>
      </p:sp>
      <p:sp>
        <p:nvSpPr>
          <p:cNvPr id="1048687" name="TextBox 5">
            <a:extLst>
              <a:ext uri="{FF2B5EF4-FFF2-40B4-BE49-F238E27FC236}">
                <a16:creationId xmlns:a16="http://schemas.microsoft.com/office/drawing/2014/main" id="{4CB42A35-1392-09FE-C148-E37FE1BF4A38}"/>
              </a:ext>
            </a:extLst>
          </p:cNvPr>
          <p:cNvSpPr txBox="1"/>
          <p:nvPr/>
        </p:nvSpPr>
        <p:spPr>
          <a:xfrm>
            <a:off x="968521" y="508914"/>
            <a:ext cx="652802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MODULE DESCRIPTION</a:t>
            </a:r>
          </a:p>
        </p:txBody>
      </p:sp>
      <p:sp>
        <p:nvSpPr>
          <p:cNvPr id="1048688" name="TextBox 12">
            <a:extLst>
              <a:ext uri="{FF2B5EF4-FFF2-40B4-BE49-F238E27FC236}">
                <a16:creationId xmlns:a16="http://schemas.microsoft.com/office/drawing/2014/main" id="{D93EECF9-1C92-8C31-9A5A-571CE21EAB26}"/>
              </a:ext>
            </a:extLst>
          </p:cNvPr>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89" name="Rectangle 8">
            <a:extLst>
              <a:ext uri="{FF2B5EF4-FFF2-40B4-BE49-F238E27FC236}">
                <a16:creationId xmlns:a16="http://schemas.microsoft.com/office/drawing/2014/main" id="{7BA971D9-B344-C1DF-46CF-E7F635E8D022}"/>
              </a:ext>
            </a:extLst>
          </p:cNvPr>
          <p:cNvSpPr/>
          <p:nvPr/>
        </p:nvSpPr>
        <p:spPr>
          <a:xfrm>
            <a:off x="-1" y="6511208"/>
            <a:ext cx="10943879" cy="923330"/>
          </a:xfrm>
          <a:prstGeom prst="rect">
            <a:avLst/>
          </a:prstGeom>
        </p:spPr>
        <p:txBody>
          <a:bodyPr wrap="square">
            <a:spAutoFit/>
          </a:bodyPr>
          <a:lstStyle/>
          <a:p>
            <a:r>
              <a:rPr lang="en-US" b="1" dirty="0"/>
              <a:t>DEPARTMENT OF CSE                                                                                                                             14/05/2025</a:t>
            </a:r>
          </a:p>
          <a:p>
            <a:endParaRPr lang="en-US" b="1" dirty="0"/>
          </a:p>
          <a:p>
            <a:endParaRPr lang="en-US" dirty="0"/>
          </a:p>
        </p:txBody>
      </p:sp>
    </p:spTree>
    <p:extLst>
      <p:ext uri="{BB962C8B-B14F-4D97-AF65-F5344CB8AC3E}">
        <p14:creationId xmlns:p14="http://schemas.microsoft.com/office/powerpoint/2010/main" val="2315658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91"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692"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93" name="Title 1"/>
          <p:cNvSpPr>
            <a:spLocks noGrp="1"/>
          </p:cNvSpPr>
          <p:nvPr>
            <p:ph type="ctrTitle"/>
          </p:nvPr>
        </p:nvSpPr>
        <p:spPr/>
        <p:txBody>
          <a:bodyPr/>
          <a:lstStyle/>
          <a:p>
            <a:r>
              <a:rPr lang="en-US" dirty="0"/>
              <a:t> </a:t>
            </a:r>
          </a:p>
        </p:txBody>
      </p:sp>
      <p:sp>
        <p:nvSpPr>
          <p:cNvPr id="1048694" name="Subtitle 2"/>
          <p:cNvSpPr>
            <a:spLocks noGrp="1"/>
          </p:cNvSpPr>
          <p:nvPr>
            <p:ph type="subTitle" idx="1"/>
          </p:nvPr>
        </p:nvSpPr>
        <p:spPr>
          <a:xfrm>
            <a:off x="441298" y="1469808"/>
            <a:ext cx="11212637" cy="4749618"/>
          </a:xfrm>
        </p:spPr>
        <p:txBody>
          <a:bodyPr>
            <a:noAutofit/>
          </a:bodyPr>
          <a:lstStyle/>
          <a:p>
            <a:pPr algn="just"/>
            <a:r>
              <a:rPr lang="en-US" sz="1600" dirty="0">
                <a:latin typeface="Times New Roman" panose="02020603050405020304" pitchFamily="18" charset="0"/>
                <a:cs typeface="Times New Roman" panose="02020603050405020304" pitchFamily="18" charset="0"/>
              </a:rPr>
              <a:t>The proposed sentiment analysis system has been meticulously implemented using a modular architecture integrated with an automated </a:t>
            </a:r>
            <a:r>
              <a:rPr lang="en-US" sz="1600" dirty="0" err="1">
                <a:latin typeface="Times New Roman" panose="02020603050405020304" pitchFamily="18" charset="0"/>
                <a:cs typeface="Times New Roman" panose="02020603050405020304" pitchFamily="18" charset="0"/>
              </a:rPr>
              <a:t>MLOps</a:t>
            </a:r>
            <a:r>
              <a:rPr lang="en-US" sz="1600" dirty="0">
                <a:latin typeface="Times New Roman" panose="02020603050405020304" pitchFamily="18" charset="0"/>
                <a:cs typeface="Times New Roman" panose="02020603050405020304" pitchFamily="18" charset="0"/>
              </a:rPr>
              <a:t> pipeline. The implementation focuses on robust data processing, efficient sentiment classification, and real-time feedback handling. The system is designed to handle diverse customer reviews and dynamically adapt to new data inputs.</a:t>
            </a:r>
          </a:p>
          <a:p>
            <a:pPr algn="just"/>
            <a:endParaRPr lang="en-US" sz="1600" b="1"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Main Features of the Implementation:</a:t>
            </a:r>
          </a:p>
          <a:p>
            <a:pPr lvl="7" algn="just"/>
            <a:endParaRPr lang="en-US" dirty="0">
              <a:latin typeface="Times New Roman" panose="02020603050405020304" pitchFamily="18" charset="0"/>
              <a:cs typeface="Times New Roman" panose="02020603050405020304" pitchFamily="18" charset="0"/>
            </a:endParaRPr>
          </a:p>
          <a:p>
            <a:pPr marL="457200" lvl="7" indent="-457200" algn="l">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Real-time Sentiment Prediction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New customer feedback is instantly classified into positive, neutral, or negative categories.</a:t>
            </a:r>
          </a:p>
          <a:p>
            <a:pPr marL="457200" lvl="7" indent="-457200" algn="l">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Negative Sentiment Alert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Automatically sends personalized email alerts to customer support when negative sentiment is detected.</a:t>
            </a:r>
          </a:p>
          <a:p>
            <a:pPr marL="457200" lvl="7" indent="-457200" algn="l">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MongoDB Integration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Stores customer reviews along with sentiment labels and confidence scores in a structured NoSQL database.</a:t>
            </a:r>
          </a:p>
          <a:p>
            <a:pPr marL="457200" lvl="7" indent="-457200" algn="l">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Scalable </a:t>
            </a:r>
            <a:r>
              <a:rPr lang="en-US" b="1" dirty="0" err="1">
                <a:latin typeface="Times New Roman" panose="02020603050405020304" pitchFamily="18" charset="0"/>
                <a:cs typeface="Times New Roman" panose="02020603050405020304" pitchFamily="18" charset="0"/>
              </a:rPr>
              <a:t>MLOps</a:t>
            </a:r>
            <a:r>
              <a:rPr lang="en-US" b="1" dirty="0">
                <a:latin typeface="Times New Roman" panose="02020603050405020304" pitchFamily="18" charset="0"/>
                <a:cs typeface="Times New Roman" panose="02020603050405020304" pitchFamily="18" charset="0"/>
              </a:rPr>
              <a:t> Pipeline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Automates model deployment, retraining, and monitoring using CI/CD principles for reliable production performance.</a:t>
            </a:r>
          </a:p>
          <a:p>
            <a:pPr lvl="7" algn="just"/>
            <a:endParaRPr lang="en-US" dirty="0">
              <a:latin typeface="Times New Roman" panose="02020603050405020304" pitchFamily="18" charset="0"/>
              <a:cs typeface="Times New Roman" panose="02020603050405020304" pitchFamily="18" charset="0"/>
            </a:endParaRPr>
          </a:p>
          <a:p>
            <a:pPr lvl="5" algn="just"/>
            <a:endParaRPr lang="en-IN" b="1" dirty="0">
              <a:latin typeface="Times New Roman" panose="02020603050405020304" pitchFamily="18" charset="0"/>
              <a:cs typeface="Times New Roman" panose="02020603050405020304" pitchFamily="18" charset="0"/>
            </a:endParaRPr>
          </a:p>
          <a:p>
            <a:pPr algn="just"/>
            <a:endParaRPr lang="en-US" sz="1100" dirty="0">
              <a:latin typeface="Times New Roman" panose="02020603050405020304" pitchFamily="18" charset="0"/>
              <a:cs typeface="Times New Roman" panose="02020603050405020304" pitchFamily="18" charset="0"/>
            </a:endParaRPr>
          </a:p>
        </p:txBody>
      </p:sp>
      <p:sp>
        <p:nvSpPr>
          <p:cNvPr id="1048695" name="TextBox 5"/>
          <p:cNvSpPr txBox="1"/>
          <p:nvPr/>
        </p:nvSpPr>
        <p:spPr>
          <a:xfrm>
            <a:off x="968521" y="508914"/>
            <a:ext cx="6528021" cy="830997"/>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IMPLEMENTATION</a:t>
            </a:r>
          </a:p>
          <a:p>
            <a:endParaRPr lang="en-US" sz="2400" b="1" dirty="0">
              <a:latin typeface="Times New Roman" panose="02020603050405020304" pitchFamily="18" charset="0"/>
              <a:cs typeface="Times New Roman" panose="02020603050405020304" pitchFamily="18" charset="0"/>
            </a:endParaRPr>
          </a:p>
        </p:txBody>
      </p:sp>
      <p:sp>
        <p:nvSpPr>
          <p:cNvPr id="1048696"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97"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3C82C-72DE-4DF5-CB8C-8D128477EDDC}"/>
            </a:ext>
          </a:extLst>
        </p:cNvPr>
        <p:cNvGrpSpPr/>
        <p:nvPr/>
      </p:nvGrpSpPr>
      <p:grpSpPr>
        <a:xfrm>
          <a:off x="0" y="0"/>
          <a:ext cx="0" cy="0"/>
          <a:chOff x="0" y="0"/>
          <a:chExt cx="0" cy="0"/>
        </a:xfrm>
      </p:grpSpPr>
      <p:sp>
        <p:nvSpPr>
          <p:cNvPr id="1048690" name="Right Triangle 1">
            <a:extLst>
              <a:ext uri="{FF2B5EF4-FFF2-40B4-BE49-F238E27FC236}">
                <a16:creationId xmlns:a16="http://schemas.microsoft.com/office/drawing/2014/main" id="{09863380-7F0E-C586-4B6D-9C9F8A1F3586}"/>
              </a:ext>
            </a:extLst>
          </p:cNvPr>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91" name="Freeform: Shape 2">
            <a:extLst>
              <a:ext uri="{FF2B5EF4-FFF2-40B4-BE49-F238E27FC236}">
                <a16:creationId xmlns:a16="http://schemas.microsoft.com/office/drawing/2014/main" id="{12571B2F-5B0F-604C-A17B-4A04C5049454}"/>
              </a:ext>
            </a:extLst>
          </p:cNvPr>
          <p:cNvSpPr/>
          <p:nvPr/>
        </p:nvSpPr>
        <p:spPr>
          <a:xfrm rot="10800000">
            <a:off x="11031960" y="-21642"/>
            <a:ext cx="1524866"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48692" name="Rectangle 7">
            <a:extLst>
              <a:ext uri="{FF2B5EF4-FFF2-40B4-BE49-F238E27FC236}">
                <a16:creationId xmlns:a16="http://schemas.microsoft.com/office/drawing/2014/main" id="{DC4A12FB-D46E-CAAA-F1CA-0B7AFB01729C}"/>
              </a:ext>
            </a:extLst>
          </p:cNvPr>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93" name="Title 1">
            <a:extLst>
              <a:ext uri="{FF2B5EF4-FFF2-40B4-BE49-F238E27FC236}">
                <a16:creationId xmlns:a16="http://schemas.microsoft.com/office/drawing/2014/main" id="{3DF6F036-954A-3B70-6F3D-2B311AACCD4C}"/>
              </a:ext>
            </a:extLst>
          </p:cNvPr>
          <p:cNvSpPr>
            <a:spLocks noGrp="1"/>
          </p:cNvSpPr>
          <p:nvPr>
            <p:ph type="ctrTitle"/>
          </p:nvPr>
        </p:nvSpPr>
        <p:spPr/>
        <p:txBody>
          <a:bodyPr/>
          <a:lstStyle/>
          <a:p>
            <a:r>
              <a:rPr lang="en-US" dirty="0"/>
              <a:t> </a:t>
            </a:r>
          </a:p>
        </p:txBody>
      </p:sp>
      <p:sp>
        <p:nvSpPr>
          <p:cNvPr id="1048694" name="Subtitle 2">
            <a:extLst>
              <a:ext uri="{FF2B5EF4-FFF2-40B4-BE49-F238E27FC236}">
                <a16:creationId xmlns:a16="http://schemas.microsoft.com/office/drawing/2014/main" id="{4F11DDCD-33BC-530F-6714-AFCE5D2D5C3B}"/>
              </a:ext>
            </a:extLst>
          </p:cNvPr>
          <p:cNvSpPr>
            <a:spLocks noGrp="1"/>
          </p:cNvSpPr>
          <p:nvPr>
            <p:ph type="subTitle" idx="1"/>
          </p:nvPr>
        </p:nvSpPr>
        <p:spPr>
          <a:xfrm>
            <a:off x="585996" y="1044815"/>
            <a:ext cx="10834673" cy="765324"/>
          </a:xfrm>
        </p:spPr>
        <p:txBody>
          <a:bodyPr>
            <a:noAutofit/>
          </a:bodyPr>
          <a:lstStyle/>
          <a:p>
            <a:pPr lvl="7" algn="just"/>
            <a:endParaRPr lang="en-US" dirty="0">
              <a:latin typeface="Times New Roman" panose="02020603050405020304" pitchFamily="18" charset="0"/>
              <a:cs typeface="Times New Roman" panose="02020603050405020304" pitchFamily="18" charset="0"/>
            </a:endParaRPr>
          </a:p>
          <a:p>
            <a:pPr marL="0" lvl="7" algn="l"/>
            <a:r>
              <a:rPr lang="en-US" b="1" dirty="0">
                <a:latin typeface="Times New Roman" panose="02020603050405020304" pitchFamily="18" charset="0"/>
                <a:cs typeface="Times New Roman" panose="02020603050405020304" pitchFamily="18" charset="0"/>
              </a:rPr>
              <a:t>Real-time Sentiment Prediction</a:t>
            </a:r>
            <a:endParaRPr lang="en-US" dirty="0">
              <a:latin typeface="Times New Roman" panose="02020603050405020304" pitchFamily="18" charset="0"/>
              <a:cs typeface="Times New Roman" panose="02020603050405020304" pitchFamily="18" charset="0"/>
            </a:endParaRPr>
          </a:p>
          <a:p>
            <a:pPr lvl="5" algn="just"/>
            <a:endParaRPr lang="en-IN" b="1" dirty="0">
              <a:latin typeface="Times New Roman" panose="02020603050405020304" pitchFamily="18" charset="0"/>
              <a:cs typeface="Times New Roman" panose="02020603050405020304" pitchFamily="18" charset="0"/>
            </a:endParaRPr>
          </a:p>
          <a:p>
            <a:pPr algn="just"/>
            <a:endParaRPr lang="en-US" sz="1100" dirty="0">
              <a:latin typeface="Times New Roman" panose="02020603050405020304" pitchFamily="18" charset="0"/>
              <a:cs typeface="Times New Roman" panose="02020603050405020304" pitchFamily="18" charset="0"/>
            </a:endParaRPr>
          </a:p>
        </p:txBody>
      </p:sp>
      <p:sp>
        <p:nvSpPr>
          <p:cNvPr id="1048695" name="TextBox 5">
            <a:extLst>
              <a:ext uri="{FF2B5EF4-FFF2-40B4-BE49-F238E27FC236}">
                <a16:creationId xmlns:a16="http://schemas.microsoft.com/office/drawing/2014/main" id="{28DB40A8-C848-5896-BF93-E07170EC9F04}"/>
              </a:ext>
            </a:extLst>
          </p:cNvPr>
          <p:cNvSpPr txBox="1"/>
          <p:nvPr/>
        </p:nvSpPr>
        <p:spPr>
          <a:xfrm>
            <a:off x="968521" y="508914"/>
            <a:ext cx="6528021" cy="830997"/>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IMPLEMENTATION</a:t>
            </a:r>
          </a:p>
          <a:p>
            <a:endParaRPr lang="en-US" sz="2400" b="1" dirty="0">
              <a:latin typeface="Times New Roman" panose="02020603050405020304" pitchFamily="18" charset="0"/>
              <a:cs typeface="Times New Roman" panose="02020603050405020304" pitchFamily="18" charset="0"/>
            </a:endParaRPr>
          </a:p>
        </p:txBody>
      </p:sp>
      <p:sp>
        <p:nvSpPr>
          <p:cNvPr id="1048696" name="TextBox 12">
            <a:extLst>
              <a:ext uri="{FF2B5EF4-FFF2-40B4-BE49-F238E27FC236}">
                <a16:creationId xmlns:a16="http://schemas.microsoft.com/office/drawing/2014/main" id="{5AA2B328-9CF3-DA0F-9169-F89F82A40A5B}"/>
              </a:ext>
            </a:extLst>
          </p:cNvPr>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97" name="Rectangle 8">
            <a:extLst>
              <a:ext uri="{FF2B5EF4-FFF2-40B4-BE49-F238E27FC236}">
                <a16:creationId xmlns:a16="http://schemas.microsoft.com/office/drawing/2014/main" id="{EAC02DF0-21F7-0ABA-55DB-3498D60EE889}"/>
              </a:ext>
            </a:extLst>
          </p:cNvPr>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pic>
        <p:nvPicPr>
          <p:cNvPr id="3" name="Picture 2">
            <a:extLst>
              <a:ext uri="{FF2B5EF4-FFF2-40B4-BE49-F238E27FC236}">
                <a16:creationId xmlns:a16="http://schemas.microsoft.com/office/drawing/2014/main" id="{15558302-B9E6-E183-9AA3-3C54C1693481}"/>
              </a:ext>
            </a:extLst>
          </p:cNvPr>
          <p:cNvPicPr>
            <a:picLocks noChangeAspect="1"/>
          </p:cNvPicPr>
          <p:nvPr/>
        </p:nvPicPr>
        <p:blipFill>
          <a:blip r:embed="rId2"/>
          <a:stretch>
            <a:fillRect/>
          </a:stretch>
        </p:blipFill>
        <p:spPr>
          <a:xfrm>
            <a:off x="585996" y="1810139"/>
            <a:ext cx="5740160" cy="4660942"/>
          </a:xfrm>
          <a:prstGeom prst="rect">
            <a:avLst/>
          </a:prstGeom>
          <a:ln w="25400">
            <a:solidFill>
              <a:sysClr val="windowText" lastClr="000000">
                <a:lumMod val="50000"/>
                <a:lumOff val="50000"/>
              </a:sysClr>
            </a:solidFill>
          </a:ln>
        </p:spPr>
      </p:pic>
      <p:pic>
        <p:nvPicPr>
          <p:cNvPr id="4" name="Picture 3">
            <a:extLst>
              <a:ext uri="{FF2B5EF4-FFF2-40B4-BE49-F238E27FC236}">
                <a16:creationId xmlns:a16="http://schemas.microsoft.com/office/drawing/2014/main" id="{AB568D4B-11F0-F8E2-DCD4-D96695675322}"/>
              </a:ext>
            </a:extLst>
          </p:cNvPr>
          <p:cNvPicPr>
            <a:picLocks noChangeAspect="1"/>
          </p:cNvPicPr>
          <p:nvPr/>
        </p:nvPicPr>
        <p:blipFill>
          <a:blip r:embed="rId3"/>
          <a:stretch>
            <a:fillRect/>
          </a:stretch>
        </p:blipFill>
        <p:spPr>
          <a:xfrm>
            <a:off x="6532172" y="1810139"/>
            <a:ext cx="5073832" cy="4657145"/>
          </a:xfrm>
          <a:prstGeom prst="rect">
            <a:avLst/>
          </a:prstGeom>
          <a:ln w="25400" cap="sq">
            <a:solidFill>
              <a:srgbClr val="000000"/>
            </a:solidFill>
            <a:miter lim="800000"/>
          </a:ln>
          <a:effectLst/>
        </p:spPr>
      </p:pic>
    </p:spTree>
    <p:extLst>
      <p:ext uri="{BB962C8B-B14F-4D97-AF65-F5344CB8AC3E}">
        <p14:creationId xmlns:p14="http://schemas.microsoft.com/office/powerpoint/2010/main" val="2067117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75E1B-FA8D-BDCD-4C05-9039BB78E947}"/>
            </a:ext>
          </a:extLst>
        </p:cNvPr>
        <p:cNvGrpSpPr/>
        <p:nvPr/>
      </p:nvGrpSpPr>
      <p:grpSpPr>
        <a:xfrm>
          <a:off x="0" y="0"/>
          <a:ext cx="0" cy="0"/>
          <a:chOff x="0" y="0"/>
          <a:chExt cx="0" cy="0"/>
        </a:xfrm>
      </p:grpSpPr>
      <p:sp>
        <p:nvSpPr>
          <p:cNvPr id="1048690" name="Right Triangle 1">
            <a:extLst>
              <a:ext uri="{FF2B5EF4-FFF2-40B4-BE49-F238E27FC236}">
                <a16:creationId xmlns:a16="http://schemas.microsoft.com/office/drawing/2014/main" id="{B093B44D-EBF7-1C7F-0AF4-A028B1AFCFA2}"/>
              </a:ext>
            </a:extLst>
          </p:cNvPr>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91" name="Freeform: Shape 2">
            <a:extLst>
              <a:ext uri="{FF2B5EF4-FFF2-40B4-BE49-F238E27FC236}">
                <a16:creationId xmlns:a16="http://schemas.microsoft.com/office/drawing/2014/main" id="{BA880F4B-3E23-963E-9B7D-785BBBBB4634}"/>
              </a:ext>
            </a:extLst>
          </p:cNvPr>
          <p:cNvSpPr/>
          <p:nvPr/>
        </p:nvSpPr>
        <p:spPr>
          <a:xfrm rot="10800000">
            <a:off x="11031960" y="-21642"/>
            <a:ext cx="1524866"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48692" name="Rectangle 7">
            <a:extLst>
              <a:ext uri="{FF2B5EF4-FFF2-40B4-BE49-F238E27FC236}">
                <a16:creationId xmlns:a16="http://schemas.microsoft.com/office/drawing/2014/main" id="{2C99F91D-3960-25CD-33DD-C986572013CE}"/>
              </a:ext>
            </a:extLst>
          </p:cNvPr>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93" name="Title 1">
            <a:extLst>
              <a:ext uri="{FF2B5EF4-FFF2-40B4-BE49-F238E27FC236}">
                <a16:creationId xmlns:a16="http://schemas.microsoft.com/office/drawing/2014/main" id="{24E0BCFE-CF18-BD48-CA06-09AB2470B5C6}"/>
              </a:ext>
            </a:extLst>
          </p:cNvPr>
          <p:cNvSpPr>
            <a:spLocks noGrp="1"/>
          </p:cNvSpPr>
          <p:nvPr>
            <p:ph type="ctrTitle"/>
          </p:nvPr>
        </p:nvSpPr>
        <p:spPr/>
        <p:txBody>
          <a:bodyPr/>
          <a:lstStyle/>
          <a:p>
            <a:r>
              <a:rPr lang="en-US" dirty="0"/>
              <a:t> </a:t>
            </a:r>
          </a:p>
        </p:txBody>
      </p:sp>
      <p:sp>
        <p:nvSpPr>
          <p:cNvPr id="1048694" name="Subtitle 2">
            <a:extLst>
              <a:ext uri="{FF2B5EF4-FFF2-40B4-BE49-F238E27FC236}">
                <a16:creationId xmlns:a16="http://schemas.microsoft.com/office/drawing/2014/main" id="{1E79C146-335B-8489-D1F1-5CF8D5FD01EE}"/>
              </a:ext>
            </a:extLst>
          </p:cNvPr>
          <p:cNvSpPr>
            <a:spLocks noGrp="1"/>
          </p:cNvSpPr>
          <p:nvPr>
            <p:ph type="subTitle" idx="1"/>
          </p:nvPr>
        </p:nvSpPr>
        <p:spPr>
          <a:xfrm>
            <a:off x="585996" y="1044815"/>
            <a:ext cx="10834673" cy="765324"/>
          </a:xfrm>
        </p:spPr>
        <p:txBody>
          <a:bodyPr>
            <a:noAutofit/>
          </a:bodyPr>
          <a:lstStyle/>
          <a:p>
            <a:pPr lvl="7" algn="just"/>
            <a:endParaRPr lang="en-US" dirty="0">
              <a:latin typeface="Times New Roman" panose="02020603050405020304" pitchFamily="18" charset="0"/>
              <a:cs typeface="Times New Roman" panose="02020603050405020304" pitchFamily="18" charset="0"/>
            </a:endParaRPr>
          </a:p>
          <a:p>
            <a:pPr marL="0" lvl="7" algn="l"/>
            <a:r>
              <a:rPr lang="en-US" b="1" dirty="0">
                <a:latin typeface="Times New Roman" panose="02020603050405020304" pitchFamily="18" charset="0"/>
                <a:cs typeface="Times New Roman" panose="02020603050405020304" pitchFamily="18" charset="0"/>
              </a:rPr>
              <a:t>Personalized mail System</a:t>
            </a:r>
            <a:endParaRPr lang="en-US" dirty="0">
              <a:latin typeface="Times New Roman" panose="02020603050405020304" pitchFamily="18" charset="0"/>
              <a:cs typeface="Times New Roman" panose="02020603050405020304" pitchFamily="18" charset="0"/>
            </a:endParaRPr>
          </a:p>
          <a:p>
            <a:pPr lvl="5" algn="just"/>
            <a:endParaRPr lang="en-IN" b="1" dirty="0">
              <a:latin typeface="Times New Roman" panose="02020603050405020304" pitchFamily="18" charset="0"/>
              <a:cs typeface="Times New Roman" panose="02020603050405020304" pitchFamily="18" charset="0"/>
            </a:endParaRPr>
          </a:p>
          <a:p>
            <a:pPr algn="just"/>
            <a:endParaRPr lang="en-US" sz="1100" dirty="0">
              <a:latin typeface="Times New Roman" panose="02020603050405020304" pitchFamily="18" charset="0"/>
              <a:cs typeface="Times New Roman" panose="02020603050405020304" pitchFamily="18" charset="0"/>
            </a:endParaRPr>
          </a:p>
        </p:txBody>
      </p:sp>
      <p:sp>
        <p:nvSpPr>
          <p:cNvPr id="1048695" name="TextBox 5">
            <a:extLst>
              <a:ext uri="{FF2B5EF4-FFF2-40B4-BE49-F238E27FC236}">
                <a16:creationId xmlns:a16="http://schemas.microsoft.com/office/drawing/2014/main" id="{65F08499-8C7F-898C-BE14-5E6C059615FB}"/>
              </a:ext>
            </a:extLst>
          </p:cNvPr>
          <p:cNvSpPr txBox="1"/>
          <p:nvPr/>
        </p:nvSpPr>
        <p:spPr>
          <a:xfrm>
            <a:off x="968521" y="508914"/>
            <a:ext cx="6528021" cy="830997"/>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IMPLEMENTATION</a:t>
            </a:r>
          </a:p>
          <a:p>
            <a:endParaRPr lang="en-US" sz="2400" b="1" dirty="0">
              <a:latin typeface="Times New Roman" panose="02020603050405020304" pitchFamily="18" charset="0"/>
              <a:cs typeface="Times New Roman" panose="02020603050405020304" pitchFamily="18" charset="0"/>
            </a:endParaRPr>
          </a:p>
        </p:txBody>
      </p:sp>
      <p:sp>
        <p:nvSpPr>
          <p:cNvPr id="1048696" name="TextBox 12">
            <a:extLst>
              <a:ext uri="{FF2B5EF4-FFF2-40B4-BE49-F238E27FC236}">
                <a16:creationId xmlns:a16="http://schemas.microsoft.com/office/drawing/2014/main" id="{B86B8FA3-FF26-7878-6FBA-3FF31D105A80}"/>
              </a:ext>
            </a:extLst>
          </p:cNvPr>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97" name="Rectangle 8">
            <a:extLst>
              <a:ext uri="{FF2B5EF4-FFF2-40B4-BE49-F238E27FC236}">
                <a16:creationId xmlns:a16="http://schemas.microsoft.com/office/drawing/2014/main" id="{41449FB3-2B92-EEA7-A9D3-5729E8135014}"/>
              </a:ext>
            </a:extLst>
          </p:cNvPr>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pic>
        <p:nvPicPr>
          <p:cNvPr id="2" name="Picture 1">
            <a:extLst>
              <a:ext uri="{FF2B5EF4-FFF2-40B4-BE49-F238E27FC236}">
                <a16:creationId xmlns:a16="http://schemas.microsoft.com/office/drawing/2014/main" id="{A7242188-222C-3A81-4025-547FB5326669}"/>
              </a:ext>
            </a:extLst>
          </p:cNvPr>
          <p:cNvPicPr>
            <a:picLocks noChangeAspect="1"/>
          </p:cNvPicPr>
          <p:nvPr/>
        </p:nvPicPr>
        <p:blipFill>
          <a:blip r:embed="rId2"/>
          <a:stretch>
            <a:fillRect/>
          </a:stretch>
        </p:blipFill>
        <p:spPr>
          <a:xfrm>
            <a:off x="617748" y="1792337"/>
            <a:ext cx="5347748" cy="4678744"/>
          </a:xfrm>
          <a:prstGeom prst="rect">
            <a:avLst/>
          </a:prstGeom>
        </p:spPr>
      </p:pic>
      <p:pic>
        <p:nvPicPr>
          <p:cNvPr id="5" name="Picture 4">
            <a:extLst>
              <a:ext uri="{FF2B5EF4-FFF2-40B4-BE49-F238E27FC236}">
                <a16:creationId xmlns:a16="http://schemas.microsoft.com/office/drawing/2014/main" id="{DE240DAA-B2C3-B91D-40DA-F8C912346D03}"/>
              </a:ext>
            </a:extLst>
          </p:cNvPr>
          <p:cNvPicPr>
            <a:picLocks noChangeAspect="1"/>
          </p:cNvPicPr>
          <p:nvPr/>
        </p:nvPicPr>
        <p:blipFill>
          <a:blip r:embed="rId3"/>
          <a:stretch>
            <a:fillRect/>
          </a:stretch>
        </p:blipFill>
        <p:spPr>
          <a:xfrm>
            <a:off x="6270210" y="1779350"/>
            <a:ext cx="5347747" cy="4704718"/>
          </a:xfrm>
          <a:prstGeom prst="rect">
            <a:avLst/>
          </a:prstGeom>
        </p:spPr>
      </p:pic>
    </p:spTree>
    <p:extLst>
      <p:ext uri="{BB962C8B-B14F-4D97-AF65-F5344CB8AC3E}">
        <p14:creationId xmlns:p14="http://schemas.microsoft.com/office/powerpoint/2010/main" val="3828584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04D0E-42C1-851C-017D-878BF62C7A49}"/>
            </a:ext>
          </a:extLst>
        </p:cNvPr>
        <p:cNvGrpSpPr/>
        <p:nvPr/>
      </p:nvGrpSpPr>
      <p:grpSpPr>
        <a:xfrm>
          <a:off x="0" y="0"/>
          <a:ext cx="0" cy="0"/>
          <a:chOff x="0" y="0"/>
          <a:chExt cx="0" cy="0"/>
        </a:xfrm>
      </p:grpSpPr>
      <p:sp>
        <p:nvSpPr>
          <p:cNvPr id="1048690" name="Right Triangle 1">
            <a:extLst>
              <a:ext uri="{FF2B5EF4-FFF2-40B4-BE49-F238E27FC236}">
                <a16:creationId xmlns:a16="http://schemas.microsoft.com/office/drawing/2014/main" id="{FB528C0A-648B-97F5-6102-7B9FD4DC213A}"/>
              </a:ext>
            </a:extLst>
          </p:cNvPr>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91" name="Freeform: Shape 2">
            <a:extLst>
              <a:ext uri="{FF2B5EF4-FFF2-40B4-BE49-F238E27FC236}">
                <a16:creationId xmlns:a16="http://schemas.microsoft.com/office/drawing/2014/main" id="{BF3E7892-BB87-403F-809D-16DD5FAC11D5}"/>
              </a:ext>
            </a:extLst>
          </p:cNvPr>
          <p:cNvSpPr/>
          <p:nvPr/>
        </p:nvSpPr>
        <p:spPr>
          <a:xfrm rot="10800000">
            <a:off x="11223478" y="-21643"/>
            <a:ext cx="1333347"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48692" name="Rectangle 7">
            <a:extLst>
              <a:ext uri="{FF2B5EF4-FFF2-40B4-BE49-F238E27FC236}">
                <a16:creationId xmlns:a16="http://schemas.microsoft.com/office/drawing/2014/main" id="{B9B017CA-E7CD-829B-1B8E-11ACA37516C5}"/>
              </a:ext>
            </a:extLst>
          </p:cNvPr>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94" name="Subtitle 2">
            <a:extLst>
              <a:ext uri="{FF2B5EF4-FFF2-40B4-BE49-F238E27FC236}">
                <a16:creationId xmlns:a16="http://schemas.microsoft.com/office/drawing/2014/main" id="{8932B27D-BB6A-A8E1-F5C9-E74BA2D85F4A}"/>
              </a:ext>
            </a:extLst>
          </p:cNvPr>
          <p:cNvSpPr>
            <a:spLocks noGrp="1"/>
          </p:cNvSpPr>
          <p:nvPr>
            <p:ph type="subTitle" idx="1"/>
          </p:nvPr>
        </p:nvSpPr>
        <p:spPr>
          <a:xfrm>
            <a:off x="585996" y="1044815"/>
            <a:ext cx="10834673" cy="765324"/>
          </a:xfrm>
        </p:spPr>
        <p:txBody>
          <a:bodyPr>
            <a:noAutofit/>
          </a:bodyPr>
          <a:lstStyle/>
          <a:p>
            <a:pPr lvl="7" algn="just"/>
            <a:endParaRPr lang="en-US" dirty="0">
              <a:latin typeface="Times New Roman" panose="02020603050405020304" pitchFamily="18" charset="0"/>
              <a:cs typeface="Times New Roman" panose="02020603050405020304" pitchFamily="18" charset="0"/>
            </a:endParaRPr>
          </a:p>
          <a:p>
            <a:pPr marL="0" lvl="7" algn="l"/>
            <a:r>
              <a:rPr lang="en-US" b="1" dirty="0">
                <a:latin typeface="Times New Roman" panose="02020603050405020304" pitchFamily="18" charset="0"/>
                <a:cs typeface="Times New Roman" panose="02020603050405020304" pitchFamily="18" charset="0"/>
              </a:rPr>
              <a:t>MongoDB Integration</a:t>
            </a:r>
            <a:endParaRPr lang="en-US" dirty="0">
              <a:latin typeface="Times New Roman" panose="02020603050405020304" pitchFamily="18" charset="0"/>
              <a:cs typeface="Times New Roman" panose="02020603050405020304" pitchFamily="18" charset="0"/>
            </a:endParaRPr>
          </a:p>
          <a:p>
            <a:pPr lvl="5" algn="just"/>
            <a:endParaRPr lang="en-IN" b="1" dirty="0">
              <a:latin typeface="Times New Roman" panose="02020603050405020304" pitchFamily="18" charset="0"/>
              <a:cs typeface="Times New Roman" panose="02020603050405020304" pitchFamily="18" charset="0"/>
            </a:endParaRPr>
          </a:p>
          <a:p>
            <a:pPr algn="just"/>
            <a:endParaRPr lang="en-US" sz="1100" dirty="0">
              <a:latin typeface="Times New Roman" panose="02020603050405020304" pitchFamily="18" charset="0"/>
              <a:cs typeface="Times New Roman" panose="02020603050405020304" pitchFamily="18" charset="0"/>
            </a:endParaRPr>
          </a:p>
        </p:txBody>
      </p:sp>
      <p:sp>
        <p:nvSpPr>
          <p:cNvPr id="1048695" name="TextBox 5">
            <a:extLst>
              <a:ext uri="{FF2B5EF4-FFF2-40B4-BE49-F238E27FC236}">
                <a16:creationId xmlns:a16="http://schemas.microsoft.com/office/drawing/2014/main" id="{F6049D48-D825-D705-2354-8FF3DF801B34}"/>
              </a:ext>
            </a:extLst>
          </p:cNvPr>
          <p:cNvSpPr txBox="1"/>
          <p:nvPr/>
        </p:nvSpPr>
        <p:spPr>
          <a:xfrm>
            <a:off x="968521" y="508914"/>
            <a:ext cx="6528021" cy="830997"/>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IMPLEMENTATION</a:t>
            </a:r>
          </a:p>
          <a:p>
            <a:endParaRPr lang="en-US" sz="2400" b="1" dirty="0">
              <a:latin typeface="Times New Roman" panose="02020603050405020304" pitchFamily="18" charset="0"/>
              <a:cs typeface="Times New Roman" panose="02020603050405020304" pitchFamily="18" charset="0"/>
            </a:endParaRPr>
          </a:p>
        </p:txBody>
      </p:sp>
      <p:sp>
        <p:nvSpPr>
          <p:cNvPr id="1048696" name="TextBox 12">
            <a:extLst>
              <a:ext uri="{FF2B5EF4-FFF2-40B4-BE49-F238E27FC236}">
                <a16:creationId xmlns:a16="http://schemas.microsoft.com/office/drawing/2014/main" id="{C3F37C48-BC9F-930A-69C2-AA3A44879568}"/>
              </a:ext>
            </a:extLst>
          </p:cNvPr>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97" name="Rectangle 8">
            <a:extLst>
              <a:ext uri="{FF2B5EF4-FFF2-40B4-BE49-F238E27FC236}">
                <a16:creationId xmlns:a16="http://schemas.microsoft.com/office/drawing/2014/main" id="{59871279-EBE8-3E61-5E20-59108432496A}"/>
              </a:ext>
            </a:extLst>
          </p:cNvPr>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pic>
        <p:nvPicPr>
          <p:cNvPr id="6" name="Picture 5">
            <a:extLst>
              <a:ext uri="{FF2B5EF4-FFF2-40B4-BE49-F238E27FC236}">
                <a16:creationId xmlns:a16="http://schemas.microsoft.com/office/drawing/2014/main" id="{B2BF245A-2DDB-8842-DB9B-F21DD479ACA3}"/>
              </a:ext>
            </a:extLst>
          </p:cNvPr>
          <p:cNvPicPr>
            <a:picLocks noChangeAspect="1"/>
          </p:cNvPicPr>
          <p:nvPr/>
        </p:nvPicPr>
        <p:blipFill>
          <a:blip r:embed="rId2"/>
          <a:stretch>
            <a:fillRect/>
          </a:stretch>
        </p:blipFill>
        <p:spPr>
          <a:xfrm>
            <a:off x="5322107" y="1830201"/>
            <a:ext cx="6472286" cy="4576367"/>
          </a:xfrm>
          <a:prstGeom prst="rect">
            <a:avLst/>
          </a:prstGeom>
        </p:spPr>
      </p:pic>
      <p:pic>
        <p:nvPicPr>
          <p:cNvPr id="7" name="Picture 6">
            <a:extLst>
              <a:ext uri="{FF2B5EF4-FFF2-40B4-BE49-F238E27FC236}">
                <a16:creationId xmlns:a16="http://schemas.microsoft.com/office/drawing/2014/main" id="{725DCFC0-7ED6-F298-E82D-21A0CA328A95}"/>
              </a:ext>
            </a:extLst>
          </p:cNvPr>
          <p:cNvPicPr>
            <a:picLocks noChangeAspect="1"/>
          </p:cNvPicPr>
          <p:nvPr/>
        </p:nvPicPr>
        <p:blipFill>
          <a:blip r:embed="rId3"/>
          <a:stretch>
            <a:fillRect/>
          </a:stretch>
        </p:blipFill>
        <p:spPr>
          <a:xfrm>
            <a:off x="585995" y="1850265"/>
            <a:ext cx="4613064" cy="4536241"/>
          </a:xfrm>
          <a:prstGeom prst="rect">
            <a:avLst/>
          </a:prstGeom>
        </p:spPr>
      </p:pic>
    </p:spTree>
    <p:extLst>
      <p:ext uri="{BB962C8B-B14F-4D97-AF65-F5344CB8AC3E}">
        <p14:creationId xmlns:p14="http://schemas.microsoft.com/office/powerpoint/2010/main" val="3436175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CC043-EBCC-61F3-EDFD-56AC76955DDA}"/>
            </a:ext>
          </a:extLst>
        </p:cNvPr>
        <p:cNvGrpSpPr/>
        <p:nvPr/>
      </p:nvGrpSpPr>
      <p:grpSpPr>
        <a:xfrm>
          <a:off x="0" y="0"/>
          <a:ext cx="0" cy="0"/>
          <a:chOff x="0" y="0"/>
          <a:chExt cx="0" cy="0"/>
        </a:xfrm>
      </p:grpSpPr>
      <p:sp>
        <p:nvSpPr>
          <p:cNvPr id="1048690" name="Right Triangle 1">
            <a:extLst>
              <a:ext uri="{FF2B5EF4-FFF2-40B4-BE49-F238E27FC236}">
                <a16:creationId xmlns:a16="http://schemas.microsoft.com/office/drawing/2014/main" id="{3C2A73E5-C765-0B7B-F974-CF26BF9169A3}"/>
              </a:ext>
            </a:extLst>
          </p:cNvPr>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691" name="Freeform: Shape 2">
            <a:extLst>
              <a:ext uri="{FF2B5EF4-FFF2-40B4-BE49-F238E27FC236}">
                <a16:creationId xmlns:a16="http://schemas.microsoft.com/office/drawing/2014/main" id="{BA23AD48-B8EB-1335-6E27-4D55ED980790}"/>
              </a:ext>
            </a:extLst>
          </p:cNvPr>
          <p:cNvSpPr/>
          <p:nvPr/>
        </p:nvSpPr>
        <p:spPr>
          <a:xfrm rot="10800000">
            <a:off x="11223478" y="-21643"/>
            <a:ext cx="1333347"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48692" name="Rectangle 7">
            <a:extLst>
              <a:ext uri="{FF2B5EF4-FFF2-40B4-BE49-F238E27FC236}">
                <a16:creationId xmlns:a16="http://schemas.microsoft.com/office/drawing/2014/main" id="{EABF0DD7-C0A1-627D-7E45-46CE136D1FC9}"/>
              </a:ext>
            </a:extLst>
          </p:cNvPr>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94" name="Subtitle 2">
            <a:extLst>
              <a:ext uri="{FF2B5EF4-FFF2-40B4-BE49-F238E27FC236}">
                <a16:creationId xmlns:a16="http://schemas.microsoft.com/office/drawing/2014/main" id="{F857D5FF-D9BF-F5EE-2FDD-D94ACDE95109}"/>
              </a:ext>
            </a:extLst>
          </p:cNvPr>
          <p:cNvSpPr>
            <a:spLocks noGrp="1"/>
          </p:cNvSpPr>
          <p:nvPr>
            <p:ph type="subTitle" idx="1"/>
          </p:nvPr>
        </p:nvSpPr>
        <p:spPr>
          <a:xfrm>
            <a:off x="678664" y="1126041"/>
            <a:ext cx="9855598" cy="576635"/>
          </a:xfrm>
        </p:spPr>
        <p:txBody>
          <a:bodyPr>
            <a:noAutofit/>
          </a:bodyPr>
          <a:lstStyle/>
          <a:p>
            <a:pPr lvl="7" algn="just"/>
            <a:endParaRPr lang="en-US" dirty="0">
              <a:latin typeface="Times New Roman" panose="02020603050405020304" pitchFamily="18" charset="0"/>
              <a:cs typeface="Times New Roman" panose="02020603050405020304" pitchFamily="18" charset="0"/>
            </a:endParaRPr>
          </a:p>
          <a:p>
            <a:pPr marL="0" lvl="7" algn="l"/>
            <a:r>
              <a:rPr lang="en-US" sz="1600" b="1" dirty="0">
                <a:latin typeface="Times New Roman" panose="02020603050405020304" pitchFamily="18" charset="0"/>
                <a:cs typeface="Times New Roman" panose="02020603050405020304" pitchFamily="18" charset="0"/>
              </a:rPr>
              <a:t>Scalable </a:t>
            </a:r>
            <a:r>
              <a:rPr lang="en-US" sz="1600" b="1" dirty="0" err="1">
                <a:latin typeface="Times New Roman" panose="02020603050405020304" pitchFamily="18" charset="0"/>
                <a:cs typeface="Times New Roman" panose="02020603050405020304" pitchFamily="18" charset="0"/>
              </a:rPr>
              <a:t>MLOps</a:t>
            </a:r>
            <a:r>
              <a:rPr lang="en-US" sz="1600" b="1" dirty="0">
                <a:latin typeface="Times New Roman" panose="02020603050405020304" pitchFamily="18" charset="0"/>
                <a:cs typeface="Times New Roman" panose="02020603050405020304" pitchFamily="18" charset="0"/>
              </a:rPr>
              <a:t> Pipeline:</a:t>
            </a:r>
            <a:endParaRPr lang="en-IN" sz="1600" dirty="0"/>
          </a:p>
          <a:p>
            <a:pPr marL="0" lvl="7" algn="l"/>
            <a:endParaRPr lang="en-US" dirty="0">
              <a:latin typeface="Times New Roman" panose="02020603050405020304" pitchFamily="18" charset="0"/>
              <a:cs typeface="Times New Roman" panose="02020603050405020304" pitchFamily="18" charset="0"/>
            </a:endParaRPr>
          </a:p>
          <a:p>
            <a:pPr lvl="5" algn="just"/>
            <a:endParaRPr lang="en-IN" b="1" dirty="0">
              <a:latin typeface="Times New Roman" panose="02020603050405020304" pitchFamily="18" charset="0"/>
              <a:cs typeface="Times New Roman" panose="02020603050405020304" pitchFamily="18" charset="0"/>
            </a:endParaRPr>
          </a:p>
          <a:p>
            <a:pPr algn="just"/>
            <a:endParaRPr lang="en-US" sz="1100" dirty="0">
              <a:latin typeface="Times New Roman" panose="02020603050405020304" pitchFamily="18" charset="0"/>
              <a:cs typeface="Times New Roman" panose="02020603050405020304" pitchFamily="18" charset="0"/>
            </a:endParaRPr>
          </a:p>
        </p:txBody>
      </p:sp>
      <p:sp>
        <p:nvSpPr>
          <p:cNvPr id="1048695" name="TextBox 5">
            <a:extLst>
              <a:ext uri="{FF2B5EF4-FFF2-40B4-BE49-F238E27FC236}">
                <a16:creationId xmlns:a16="http://schemas.microsoft.com/office/drawing/2014/main" id="{A33F9BF5-37CA-83ED-E4A7-6955BED76143}"/>
              </a:ext>
            </a:extLst>
          </p:cNvPr>
          <p:cNvSpPr txBox="1"/>
          <p:nvPr/>
        </p:nvSpPr>
        <p:spPr>
          <a:xfrm>
            <a:off x="951524" y="519090"/>
            <a:ext cx="4370584" cy="830997"/>
          </a:xfrm>
          <a:prstGeom prst="rect">
            <a:avLst/>
          </a:prstGeom>
          <a:noFill/>
        </p:spPr>
        <p:txBody>
          <a:bodyPr wrap="square" rtlCol="0">
            <a:spAutoFit/>
          </a:bodyPr>
          <a:lstStyle/>
          <a:p>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IMPLEMENTATION</a:t>
            </a:r>
          </a:p>
          <a:p>
            <a:endParaRPr lang="en-US" sz="2400" b="1" dirty="0">
              <a:latin typeface="Times New Roman" panose="02020603050405020304" pitchFamily="18" charset="0"/>
              <a:cs typeface="Times New Roman" panose="02020603050405020304" pitchFamily="18" charset="0"/>
            </a:endParaRPr>
          </a:p>
        </p:txBody>
      </p:sp>
      <p:sp>
        <p:nvSpPr>
          <p:cNvPr id="1048696" name="TextBox 12">
            <a:extLst>
              <a:ext uri="{FF2B5EF4-FFF2-40B4-BE49-F238E27FC236}">
                <a16:creationId xmlns:a16="http://schemas.microsoft.com/office/drawing/2014/main" id="{DEE35B2C-2301-1A92-8476-E8973928F518}"/>
              </a:ext>
            </a:extLst>
          </p:cNvPr>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697" name="Rectangle 8">
            <a:extLst>
              <a:ext uri="{FF2B5EF4-FFF2-40B4-BE49-F238E27FC236}">
                <a16:creationId xmlns:a16="http://schemas.microsoft.com/office/drawing/2014/main" id="{2535BDCE-B24C-FA23-0A1B-997AC828EC76}"/>
              </a:ext>
            </a:extLst>
          </p:cNvPr>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pic>
        <p:nvPicPr>
          <p:cNvPr id="2" name="Picture 1">
            <a:extLst>
              <a:ext uri="{FF2B5EF4-FFF2-40B4-BE49-F238E27FC236}">
                <a16:creationId xmlns:a16="http://schemas.microsoft.com/office/drawing/2014/main" id="{316050C3-08B8-36CD-3862-FB89EEB5702D}"/>
              </a:ext>
            </a:extLst>
          </p:cNvPr>
          <p:cNvPicPr>
            <a:picLocks noChangeAspect="1"/>
          </p:cNvPicPr>
          <p:nvPr/>
        </p:nvPicPr>
        <p:blipFill>
          <a:blip r:embed="rId2"/>
          <a:stretch>
            <a:fillRect/>
          </a:stretch>
        </p:blipFill>
        <p:spPr>
          <a:xfrm>
            <a:off x="710473" y="1802601"/>
            <a:ext cx="5367993" cy="4583906"/>
          </a:xfrm>
          <a:prstGeom prst="rect">
            <a:avLst/>
          </a:prstGeom>
        </p:spPr>
      </p:pic>
      <p:pic>
        <p:nvPicPr>
          <p:cNvPr id="3" name="Picture 2">
            <a:extLst>
              <a:ext uri="{FF2B5EF4-FFF2-40B4-BE49-F238E27FC236}">
                <a16:creationId xmlns:a16="http://schemas.microsoft.com/office/drawing/2014/main" id="{80EB9926-4FFE-3795-6FFA-C1CD23CDFCD7}"/>
              </a:ext>
            </a:extLst>
          </p:cNvPr>
          <p:cNvPicPr>
            <a:picLocks noChangeAspect="1"/>
          </p:cNvPicPr>
          <p:nvPr/>
        </p:nvPicPr>
        <p:blipFill>
          <a:blip r:embed="rId3"/>
          <a:stretch>
            <a:fillRect/>
          </a:stretch>
        </p:blipFill>
        <p:spPr>
          <a:xfrm>
            <a:off x="6309810" y="1814989"/>
            <a:ext cx="5273788" cy="4583906"/>
          </a:xfrm>
          <a:prstGeom prst="rect">
            <a:avLst/>
          </a:prstGeom>
        </p:spPr>
      </p:pic>
    </p:spTree>
    <p:extLst>
      <p:ext uri="{BB962C8B-B14F-4D97-AF65-F5344CB8AC3E}">
        <p14:creationId xmlns:p14="http://schemas.microsoft.com/office/powerpoint/2010/main" val="741350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699"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700"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1" name="Title 1"/>
          <p:cNvSpPr>
            <a:spLocks noGrp="1"/>
          </p:cNvSpPr>
          <p:nvPr>
            <p:ph type="ctrTitle"/>
          </p:nvPr>
        </p:nvSpPr>
        <p:spPr/>
        <p:txBody>
          <a:bodyPr/>
          <a:lstStyle/>
          <a:p>
            <a:r>
              <a:rPr lang="en-US" dirty="0"/>
              <a:t> </a:t>
            </a:r>
          </a:p>
        </p:txBody>
      </p:sp>
      <p:sp>
        <p:nvSpPr>
          <p:cNvPr id="1048702" name="TextBox 5"/>
          <p:cNvSpPr txBox="1"/>
          <p:nvPr/>
        </p:nvSpPr>
        <p:spPr>
          <a:xfrm>
            <a:off x="617748" y="630794"/>
            <a:ext cx="6528021" cy="302968"/>
          </a:xfrm>
          <a:prstGeom prst="rect">
            <a:avLst/>
          </a:prstGeom>
          <a:noFill/>
        </p:spPr>
        <p:txBody>
          <a:bodyPr wrap="square" rtlCol="0">
            <a:spAutoFit/>
          </a:bodyPr>
          <a:lstStyle/>
          <a:p>
            <a:pPr algn="just">
              <a:lnSpc>
                <a:spcPct val="50000"/>
              </a:lnSpc>
            </a:pPr>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FUTURE SCOPE</a:t>
            </a:r>
          </a:p>
        </p:txBody>
      </p:sp>
      <p:sp>
        <p:nvSpPr>
          <p:cNvPr id="1048703"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704"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2" name="Rectangle 1">
            <a:extLst>
              <a:ext uri="{FF2B5EF4-FFF2-40B4-BE49-F238E27FC236}">
                <a16:creationId xmlns:a16="http://schemas.microsoft.com/office/drawing/2014/main" id="{0762B8B6-BEF1-F722-8E4E-940AFCD9D44E}"/>
              </a:ext>
            </a:extLst>
          </p:cNvPr>
          <p:cNvSpPr>
            <a:spLocks noChangeArrowheads="1"/>
          </p:cNvSpPr>
          <p:nvPr/>
        </p:nvSpPr>
        <p:spPr bwMode="auto">
          <a:xfrm>
            <a:off x="342123" y="1174105"/>
            <a:ext cx="11961845"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Multilingual Sentiment Analysis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 support for regional and international languages to analyze a diverse range of customer feedback.</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Aspect-Based Sentiment Analysis (ABSA)</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sentiments for specific product or service aspects (e.g., delivery, quality, pricing) for targeted improvement.</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Sarcasm and Emotion Detection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model accuracy by incorporating sarcasm handling and emotion classification using deep learning models.</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 and Video Feedback Integration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Extend feedback input modes to include voice and video, enabling analysis through speech-to-text and visual sentiment cues.</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CRM and Chatbot Integration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Seamlessly connect with Customer Relationship Management systems and AI chatbots for automated support actions.</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Analytics for Customer Retention</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sentiment trends to predict churn risk and recommend retention strategies.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706"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707"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8" name="Title 1"/>
          <p:cNvSpPr>
            <a:spLocks noGrp="1"/>
          </p:cNvSpPr>
          <p:nvPr>
            <p:ph type="ctrTitle"/>
          </p:nvPr>
        </p:nvSpPr>
        <p:spPr/>
        <p:txBody>
          <a:bodyPr/>
          <a:lstStyle/>
          <a:p>
            <a:r>
              <a:rPr lang="en-US" dirty="0"/>
              <a:t> </a:t>
            </a:r>
          </a:p>
        </p:txBody>
      </p:sp>
      <p:sp>
        <p:nvSpPr>
          <p:cNvPr id="1048709" name="TextBox 5"/>
          <p:cNvSpPr txBox="1"/>
          <p:nvPr/>
        </p:nvSpPr>
        <p:spPr>
          <a:xfrm>
            <a:off x="617748" y="630794"/>
            <a:ext cx="6528021" cy="302968"/>
          </a:xfrm>
          <a:prstGeom prst="rect">
            <a:avLst/>
          </a:prstGeom>
          <a:noFill/>
        </p:spPr>
        <p:txBody>
          <a:bodyPr wrap="square" rtlCol="0">
            <a:spAutoFit/>
          </a:bodyPr>
          <a:lstStyle/>
          <a:p>
            <a:pPr algn="just">
              <a:lnSpc>
                <a:spcPct val="50000"/>
              </a:lnSpc>
            </a:pPr>
            <a:r>
              <a:rPr lang="en-US" sz="2400" b="1" kern="12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REFERENCES</a:t>
            </a:r>
            <a:endPar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48710"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711"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3" name="TextBox 2">
            <a:extLst>
              <a:ext uri="{FF2B5EF4-FFF2-40B4-BE49-F238E27FC236}">
                <a16:creationId xmlns:a16="http://schemas.microsoft.com/office/drawing/2014/main" id="{8E204B87-00EC-C641-3BD8-F6C2EDE2FD38}"/>
              </a:ext>
            </a:extLst>
          </p:cNvPr>
          <p:cNvSpPr txBox="1"/>
          <p:nvPr/>
        </p:nvSpPr>
        <p:spPr>
          <a:xfrm>
            <a:off x="617748" y="1423435"/>
            <a:ext cx="10912127" cy="3693319"/>
          </a:xfrm>
          <a:prstGeom prst="rect">
            <a:avLst/>
          </a:prstGeom>
          <a:noFill/>
        </p:spPr>
        <p:txBody>
          <a:bodyPr wrap="square">
            <a:spAutoFit/>
          </a:bodyPr>
          <a:lstStyle/>
          <a:p>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[1] Liu, B. (2012). </a:t>
            </a:r>
            <a:r>
              <a:rPr lang="en-IN" sz="1800" i="1" kern="100" dirty="0">
                <a:effectLst/>
                <a:latin typeface="Times New Roman" panose="02020603050405020304" pitchFamily="18" charset="0"/>
                <a:ea typeface="Calibri" panose="020F0502020204030204" pitchFamily="34" charset="0"/>
                <a:cs typeface="Times New Roman" panose="02020603050405020304" pitchFamily="18" charset="0"/>
              </a:rPr>
              <a:t>Sentiment Analysis and Opinion Mining</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Morgan &amp; Claypool Publishers.</a:t>
            </a:r>
          </a:p>
          <a:p>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[2] Poria, S., Cambria, E., &amp;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Gelbukh</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 (2016). </a:t>
            </a:r>
            <a:r>
              <a:rPr lang="en-IN" sz="1800" i="1" kern="100" dirty="0">
                <a:effectLst/>
                <a:latin typeface="Times New Roman" panose="02020603050405020304" pitchFamily="18" charset="0"/>
                <a:ea typeface="Calibri" panose="020F0502020204030204" pitchFamily="34" charset="0"/>
                <a:cs typeface="Times New Roman" panose="02020603050405020304" pitchFamily="18" charset="0"/>
              </a:rPr>
              <a:t>A Survey on Sentiment Analysis and Opinion Mining</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ACM Computing Surveys.</a:t>
            </a:r>
          </a:p>
          <a:p>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[3] Zhang, Y., et al. (2018). </a:t>
            </a:r>
            <a:r>
              <a:rPr lang="en-IN" sz="1800" i="1" kern="100" dirty="0">
                <a:effectLst/>
                <a:latin typeface="Times New Roman" panose="02020603050405020304" pitchFamily="18" charset="0"/>
                <a:ea typeface="Calibri" panose="020F0502020204030204" pitchFamily="34" charset="0"/>
                <a:cs typeface="Times New Roman" panose="02020603050405020304" pitchFamily="18" charset="0"/>
              </a:rPr>
              <a:t>Sentiment Analysis Using Deep Learning: A Survey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IEEE Transactions on Affective Computing.</a:t>
            </a:r>
          </a:p>
          <a:p>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[4] Smith, G. V., et al. (2020). </a:t>
            </a:r>
            <a:r>
              <a:rPr lang="en-IN" sz="1800" i="1" kern="100" dirty="0" err="1">
                <a:effectLst/>
                <a:latin typeface="Times New Roman" panose="02020603050405020304" pitchFamily="18" charset="0"/>
                <a:ea typeface="Calibri" panose="020F0502020204030204" pitchFamily="34" charset="0"/>
                <a:cs typeface="Times New Roman" panose="02020603050405020304" pitchFamily="18" charset="0"/>
              </a:rPr>
              <a:t>MLOps</a:t>
            </a:r>
            <a:r>
              <a:rPr lang="en-IN" sz="1800" i="1" kern="100" dirty="0">
                <a:effectLst/>
                <a:latin typeface="Times New Roman" panose="02020603050405020304" pitchFamily="18" charset="0"/>
                <a:ea typeface="Calibri" panose="020F0502020204030204" pitchFamily="34" charset="0"/>
                <a:cs typeface="Times New Roman" panose="02020603050405020304" pitchFamily="18" charset="0"/>
              </a:rPr>
              <a:t>: Machine Learning Operations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Journal of Big Data.</a:t>
            </a:r>
          </a:p>
          <a:p>
            <a:b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[5] Gupta, A., et al. (2021). </a:t>
            </a:r>
            <a:r>
              <a:rPr lang="en-IN" sz="1800" i="1" kern="100" dirty="0">
                <a:effectLst/>
                <a:latin typeface="Times New Roman" panose="02020603050405020304" pitchFamily="18" charset="0"/>
                <a:ea typeface="Calibri" panose="020F0502020204030204" pitchFamily="34" charset="0"/>
                <a:cs typeface="Times New Roman" panose="02020603050405020304" pitchFamily="18" charset="0"/>
              </a:rPr>
              <a:t>Real-time Sentiment Analysis of Social Media Posts Using Machine Learning</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International Journal of Computer Applications.</a:t>
            </a: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713"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714" name="Rectangle 7"/>
          <p:cNvSpPr/>
          <p:nvPr/>
        </p:nvSpPr>
        <p:spPr>
          <a:xfrm>
            <a:off x="617748" y="471493"/>
            <a:ext cx="5336931" cy="5766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5" name="Title 1"/>
          <p:cNvSpPr>
            <a:spLocks noGrp="1"/>
          </p:cNvSpPr>
          <p:nvPr>
            <p:ph type="ctrTitle"/>
          </p:nvPr>
        </p:nvSpPr>
        <p:spPr/>
        <p:txBody>
          <a:bodyPr/>
          <a:lstStyle/>
          <a:p>
            <a:r>
              <a:rPr lang="en-US" dirty="0"/>
              <a:t> </a:t>
            </a:r>
          </a:p>
        </p:txBody>
      </p:sp>
      <p:sp>
        <p:nvSpPr>
          <p:cNvPr id="1048716" name="TextBox 5"/>
          <p:cNvSpPr txBox="1"/>
          <p:nvPr/>
        </p:nvSpPr>
        <p:spPr>
          <a:xfrm>
            <a:off x="617748" y="630794"/>
            <a:ext cx="6528021" cy="302968"/>
          </a:xfrm>
          <a:prstGeom prst="rect">
            <a:avLst/>
          </a:prstGeom>
          <a:noFill/>
        </p:spPr>
        <p:txBody>
          <a:bodyPr wrap="square" rtlCol="0">
            <a:spAutoFit/>
          </a:bodyPr>
          <a:lstStyle/>
          <a:p>
            <a:pPr algn="just">
              <a:lnSpc>
                <a:spcPct val="50000"/>
              </a:lnSpc>
            </a:pPr>
            <a:r>
              <a:rPr lang="en-US" sz="2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CONCLUSION</a:t>
            </a:r>
          </a:p>
        </p:txBody>
      </p:sp>
      <p:sp>
        <p:nvSpPr>
          <p:cNvPr id="1048717"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718"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
        <p:nvSpPr>
          <p:cNvPr id="3" name="TextBox 2">
            <a:extLst>
              <a:ext uri="{FF2B5EF4-FFF2-40B4-BE49-F238E27FC236}">
                <a16:creationId xmlns:a16="http://schemas.microsoft.com/office/drawing/2014/main" id="{3304C308-C4C3-1948-D9E5-017CCC639A9D}"/>
              </a:ext>
            </a:extLst>
          </p:cNvPr>
          <p:cNvSpPr txBox="1"/>
          <p:nvPr/>
        </p:nvSpPr>
        <p:spPr>
          <a:xfrm>
            <a:off x="585996" y="1398124"/>
            <a:ext cx="10844004" cy="3371885"/>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proposed sentiment analysis system effectively addresses the growing need for intelligent customer feedback interpretation. By leveraging advanced natural language processing techniques and robust machine learning models like Random Forest, the system accurately classifies customer sentiments as positive, neutral, or negative. The integration with MongoDB ensures seamless storage and retrieval of classified reviews, while the automated email alert mechanism enhances customer service by enabling timely responses to dissatisfied users. 	Furthermore, the incorporation of an </a:t>
            </a:r>
            <a:r>
              <a:rPr lang="en-US" sz="1800" dirty="0" err="1">
                <a:latin typeface="Times New Roman" panose="02020603050405020304" pitchFamily="18" charset="0"/>
                <a:cs typeface="Times New Roman" panose="02020603050405020304" pitchFamily="18" charset="0"/>
              </a:rPr>
              <a:t>MLOps</a:t>
            </a:r>
            <a:r>
              <a:rPr lang="en-US" sz="1800" dirty="0">
                <a:latin typeface="Times New Roman" panose="02020603050405020304" pitchFamily="18" charset="0"/>
                <a:cs typeface="Times New Roman" panose="02020603050405020304" pitchFamily="18" charset="0"/>
              </a:rPr>
              <a:t> pipeline ensures continuous improvement, scalability, and reliable deployment of models in real-world scenarios. Overall, the system offers a practical, efficient, and scalable solution for businesses aiming to monitor and enhance customer satisfaction in a data-driven manner.</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Right Triangle 1"/>
          <p:cNvSpPr/>
          <p:nvPr/>
        </p:nvSpPr>
        <p:spPr>
          <a:xfrm rot="11211921">
            <a:off x="-553181" y="-48903"/>
            <a:ext cx="753489" cy="6498246"/>
          </a:xfrm>
          <a:prstGeom prst="rtTriangle">
            <a:avLst/>
          </a:pr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48720" name="Freeform: Shape 2"/>
          <p:cNvSpPr/>
          <p:nvPr/>
        </p:nvSpPr>
        <p:spPr>
          <a:xfrm rot="10800000">
            <a:off x="10943878" y="-21641"/>
            <a:ext cx="1612949" cy="7405341"/>
          </a:xfrm>
          <a:custGeom>
            <a:avLst/>
            <a:gdLst>
              <a:gd name="connsiteX0" fmla="*/ 1284499 w 1612949"/>
              <a:gd name="connsiteY0" fmla="*/ 7405341 h 7405341"/>
              <a:gd name="connsiteX1" fmla="*/ 0 w 1612949"/>
              <a:gd name="connsiteY1" fmla="*/ 7405341 h 7405341"/>
              <a:gd name="connsiteX2" fmla="*/ 75438 w 1612949"/>
              <a:gd name="connsiteY2" fmla="*/ 5109057 h 7405341"/>
              <a:gd name="connsiteX3" fmla="*/ 54119 w 1612949"/>
              <a:gd name="connsiteY3" fmla="*/ 5174531 h 7405341"/>
              <a:gd name="connsiteX4" fmla="*/ 104003 w 1612949"/>
              <a:gd name="connsiteY4" fmla="*/ 4239551 h 7405341"/>
              <a:gd name="connsiteX5" fmla="*/ 143435 w 1612949"/>
              <a:gd name="connsiteY5" fmla="*/ 3039264 h 7405341"/>
              <a:gd name="connsiteX6" fmla="*/ 163870 w 1612949"/>
              <a:gd name="connsiteY6" fmla="*/ 3117456 h 7405341"/>
              <a:gd name="connsiteX7" fmla="*/ 330196 w 1612949"/>
              <a:gd name="connsiteY7" fmla="*/ 0 h 7405341"/>
              <a:gd name="connsiteX8" fmla="*/ 1612949 w 1612949"/>
              <a:gd name="connsiteY8" fmla="*/ 412073 h 7405341"/>
              <a:gd name="connsiteX9" fmla="*/ 450550 w 1612949"/>
              <a:gd name="connsiteY9" fmla="*/ 3957022 h 7405341"/>
              <a:gd name="connsiteX10" fmla="*/ 413238 w 1612949"/>
              <a:gd name="connsiteY10" fmla="*/ 4071615 h 7405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2949" h="7405341">
                <a:moveTo>
                  <a:pt x="1284499" y="7405341"/>
                </a:moveTo>
                <a:lnTo>
                  <a:pt x="0" y="7405341"/>
                </a:lnTo>
                <a:lnTo>
                  <a:pt x="75438" y="5109057"/>
                </a:lnTo>
                <a:lnTo>
                  <a:pt x="54119" y="5174531"/>
                </a:lnTo>
                <a:lnTo>
                  <a:pt x="104003" y="4239551"/>
                </a:lnTo>
                <a:lnTo>
                  <a:pt x="143435" y="3039264"/>
                </a:lnTo>
                <a:lnTo>
                  <a:pt x="163870" y="3117456"/>
                </a:lnTo>
                <a:lnTo>
                  <a:pt x="330196" y="0"/>
                </a:lnTo>
                <a:lnTo>
                  <a:pt x="1612949" y="412073"/>
                </a:lnTo>
                <a:cubicBezTo>
                  <a:pt x="1205312" y="1674405"/>
                  <a:pt x="838016" y="2775372"/>
                  <a:pt x="450550" y="3957022"/>
                </a:cubicBezTo>
                <a:lnTo>
                  <a:pt x="413238" y="4071615"/>
                </a:lnTo>
                <a:close/>
              </a:path>
            </a:pathLst>
          </a:custGeom>
          <a:solidFill>
            <a:srgbClr val="92D050"/>
          </a:solidFill>
          <a:ln>
            <a:solidFill>
              <a:srgbClr val="7FC1D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48721" name="Title 1"/>
          <p:cNvSpPr>
            <a:spLocks noGrp="1"/>
          </p:cNvSpPr>
          <p:nvPr>
            <p:ph type="ctrTitle"/>
          </p:nvPr>
        </p:nvSpPr>
        <p:spPr/>
        <p:txBody>
          <a:bodyPr/>
          <a:lstStyle/>
          <a:p>
            <a:r>
              <a:rPr lang="en-US" dirty="0"/>
              <a:t> </a:t>
            </a:r>
          </a:p>
        </p:txBody>
      </p:sp>
      <p:sp>
        <p:nvSpPr>
          <p:cNvPr id="1048722" name="TextBox 5"/>
          <p:cNvSpPr txBox="1"/>
          <p:nvPr/>
        </p:nvSpPr>
        <p:spPr>
          <a:xfrm>
            <a:off x="3560691" y="3105273"/>
            <a:ext cx="6528021" cy="566245"/>
          </a:xfrm>
          <a:prstGeom prst="rect">
            <a:avLst/>
          </a:prstGeom>
          <a:noFill/>
        </p:spPr>
        <p:txBody>
          <a:bodyPr wrap="square" rtlCol="0">
            <a:spAutoFit/>
          </a:bodyPr>
          <a:lstStyle/>
          <a:p>
            <a:pPr algn="just">
              <a:lnSpc>
                <a:spcPct val="50000"/>
              </a:lnSpc>
            </a:pPr>
            <a:r>
              <a:rPr lang="en-US" sz="54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THANK YOU</a:t>
            </a:r>
          </a:p>
        </p:txBody>
      </p:sp>
      <p:sp>
        <p:nvSpPr>
          <p:cNvPr id="1048723" name="TextBox 12"/>
          <p:cNvSpPr txBox="1"/>
          <p:nvPr/>
        </p:nvSpPr>
        <p:spPr>
          <a:xfrm>
            <a:off x="617748" y="62034"/>
            <a:ext cx="3431459" cy="369332"/>
          </a:xfrm>
          <a:prstGeom prst="rect">
            <a:avLst/>
          </a:prstGeom>
          <a:noFill/>
        </p:spPr>
        <p:txBody>
          <a:bodyPr wrap="square" rtlCol="0">
            <a:spAutoFit/>
          </a:bodyPr>
          <a:lstStyle/>
          <a:p>
            <a:r>
              <a:rPr lang="en-US" b="1"/>
              <a:t>CS3811-PROJECT WORK</a:t>
            </a:r>
            <a:endParaRPr lang="en-US" b="1" dirty="0"/>
          </a:p>
        </p:txBody>
      </p:sp>
      <p:sp>
        <p:nvSpPr>
          <p:cNvPr id="1048724" name="Rectangle 8"/>
          <p:cNvSpPr/>
          <p:nvPr/>
        </p:nvSpPr>
        <p:spPr>
          <a:xfrm>
            <a:off x="-1" y="6511208"/>
            <a:ext cx="14148619" cy="891541"/>
          </a:xfrm>
          <a:prstGeom prst="rect">
            <a:avLst/>
          </a:prstGeom>
        </p:spPr>
        <p:txBody>
          <a:bodyPr wrap="square">
            <a:spAutoFit/>
          </a:bodyPr>
          <a:lstStyle/>
          <a:p>
            <a:r>
              <a:rPr lang="en-US" b="1" dirty="0"/>
              <a:t>DEPARTMENT OF CSE                                                                                                                             14/05/2025</a:t>
            </a:r>
          </a:p>
          <a:p>
            <a:endParaRPr lang="en-US" b="1"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TotalTime>
  <Words>2451</Words>
  <Application>Microsoft Office PowerPoint</Application>
  <PresentationFormat>Widescreen</PresentationFormat>
  <Paragraphs>242</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Courier New</vt:lpstr>
      <vt:lpstr>Symbol</vt:lpstr>
      <vt:lpstr>Times New Roman</vt:lpstr>
      <vt:lpstr>Wingdings</vt:lpstr>
      <vt:lpstr>Office Theme</vt:lpstr>
      <vt:lpstr>PowerPoint Presentation</vt:lpstr>
      <vt:lpstr>AGENDA </vt:lpstr>
      <vt:lpstr>PowerPoint Presentation</vt:lpstr>
      <vt:lpstr>PowerPoint Presentation</vt:lpstr>
      <vt:lpstr> </vt:lpstr>
      <vt:lpstr>PowerPoint Presentation</vt:lpstr>
      <vt:lpstr> </vt:lpstr>
      <vt:lpstr> </vt:lpstr>
      <vt:lpstr> </vt:lpstr>
      <vt:lpstr>PowerPoint Presentation</vt:lpstr>
      <vt:lpstr>PowerPoint Presentation</vt:lpstr>
      <vt:lpstr> </vt:lpstr>
      <vt:lpstr> </vt:lpstr>
      <vt:lpstr> </vt:lpstr>
      <vt:lpstr> </vt:lpstr>
      <vt:lpstr> </vt:lpstr>
      <vt:lpstr> </vt:lpstr>
      <vt:lpstr> </vt:lpstr>
      <vt:lpstr>PowerPoint Presentation</vt:lpstr>
      <vt:lpstr>PowerPoint Presentation</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HUAWEI</dc:creator>
  <cp:lastModifiedBy>Baskaran C</cp:lastModifiedBy>
  <cp:revision>24</cp:revision>
  <dcterms:created xsi:type="dcterms:W3CDTF">2025-04-29T07:26:27Z</dcterms:created>
  <dcterms:modified xsi:type="dcterms:W3CDTF">2025-05-13T13:42:19Z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e00213ec927047eb9d2ac0c129297eaa</vt:lpwstr>
  </property>
</Properties>
</file>